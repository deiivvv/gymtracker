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Open Sans Bold" charset="1" panose="020B0806030504020204"/>
      <p:regular r:id="rId19"/>
    </p:embeddedFont>
    <p:embeddedFont>
      <p:font typeface="Open Sans" charset="1" panose="020B0606030504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13" Target="../media/image21.png" Type="http://schemas.openxmlformats.org/officeDocument/2006/relationships/image"/><Relationship Id="rId14" Target="../media/image22.svg" Type="http://schemas.openxmlformats.org/officeDocument/2006/relationships/image"/><Relationship Id="rId15" Target="../media/image23.png" Type="http://schemas.openxmlformats.org/officeDocument/2006/relationships/image"/><Relationship Id="rId16" Target="../media/image24.svg" Type="http://schemas.openxmlformats.org/officeDocument/2006/relationships/image"/><Relationship Id="rId17" Target="../media/image25.png" Type="http://schemas.openxmlformats.org/officeDocument/2006/relationships/image"/><Relationship Id="rId18" Target="../media/image26.png" Type="http://schemas.openxmlformats.org/officeDocument/2006/relationships/image"/><Relationship Id="rId19" Target="../media/image27.png" Type="http://schemas.openxmlformats.org/officeDocument/2006/relationships/image"/><Relationship Id="rId2" Target="../media/image10.png" Type="http://schemas.openxmlformats.org/officeDocument/2006/relationships/image"/><Relationship Id="rId20" Target="../media/image28.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jpeg" Type="http://schemas.openxmlformats.org/officeDocument/2006/relationships/image"/><Relationship Id="rId3" Target="../media/VAGHWcQHGtE.mp4" Type="http://schemas.openxmlformats.org/officeDocument/2006/relationships/video"/><Relationship Id="rId4" Target="../media/VAGHWcQHGtE.mp4" Type="http://schemas.microsoft.com/office/2007/relationships/media"/></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png" Type="http://schemas.openxmlformats.org/officeDocument/2006/relationships/image"/><Relationship Id="rId4" Target="../media/image39.png" Type="http://schemas.openxmlformats.org/officeDocument/2006/relationships/image"/><Relationship Id="rId5" Target="../media/image40.png" Type="http://schemas.openxmlformats.org/officeDocument/2006/relationships/image"/><Relationship Id="rId6" Target="../media/image4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646236" cy="8650432"/>
            <a:chOff x="0" y="0"/>
            <a:chExt cx="4384194" cy="2278303"/>
          </a:xfrm>
        </p:grpSpPr>
        <p:sp>
          <p:nvSpPr>
            <p:cNvPr name="Freeform 3" id="3"/>
            <p:cNvSpPr/>
            <p:nvPr/>
          </p:nvSpPr>
          <p:spPr>
            <a:xfrm flipH="false" flipV="false" rot="0">
              <a:off x="0" y="0"/>
              <a:ext cx="4384194" cy="2278303"/>
            </a:xfrm>
            <a:custGeom>
              <a:avLst/>
              <a:gdLst/>
              <a:ahLst/>
              <a:cxnLst/>
              <a:rect r="r" b="b" t="t" l="l"/>
              <a:pathLst>
                <a:path h="2278303" w="4384194">
                  <a:moveTo>
                    <a:pt x="23719" y="0"/>
                  </a:moveTo>
                  <a:lnTo>
                    <a:pt x="4360474" y="0"/>
                  </a:lnTo>
                  <a:cubicBezTo>
                    <a:pt x="4366765" y="0"/>
                    <a:pt x="4372798" y="2499"/>
                    <a:pt x="4377246" y="6947"/>
                  </a:cubicBezTo>
                  <a:cubicBezTo>
                    <a:pt x="4381695" y="11395"/>
                    <a:pt x="4384194" y="17429"/>
                    <a:pt x="4384194" y="23719"/>
                  </a:cubicBezTo>
                  <a:lnTo>
                    <a:pt x="4384194" y="2254584"/>
                  </a:lnTo>
                  <a:cubicBezTo>
                    <a:pt x="4384194" y="2260874"/>
                    <a:pt x="4381695" y="2266908"/>
                    <a:pt x="4377246" y="2271356"/>
                  </a:cubicBezTo>
                  <a:cubicBezTo>
                    <a:pt x="4372798" y="2275804"/>
                    <a:pt x="4366765" y="2278303"/>
                    <a:pt x="4360474" y="2278303"/>
                  </a:cubicBezTo>
                  <a:lnTo>
                    <a:pt x="23719" y="2278303"/>
                  </a:lnTo>
                  <a:cubicBezTo>
                    <a:pt x="10620" y="2278303"/>
                    <a:pt x="0" y="2267683"/>
                    <a:pt x="0" y="2254584"/>
                  </a:cubicBezTo>
                  <a:lnTo>
                    <a:pt x="0" y="23719"/>
                  </a:lnTo>
                  <a:cubicBezTo>
                    <a:pt x="0" y="17429"/>
                    <a:pt x="2499" y="11395"/>
                    <a:pt x="6947" y="6947"/>
                  </a:cubicBezTo>
                  <a:cubicBezTo>
                    <a:pt x="11395" y="2499"/>
                    <a:pt x="17429" y="0"/>
                    <a:pt x="23719" y="0"/>
                  </a:cubicBezTo>
                  <a:close/>
                </a:path>
              </a:pathLst>
            </a:custGeom>
            <a:solidFill>
              <a:srgbClr val="FFFFFF"/>
            </a:solidFill>
            <a:ln cap="rnd">
              <a:noFill/>
              <a:prstDash val="solid"/>
              <a:round/>
            </a:ln>
          </p:spPr>
        </p:sp>
        <p:sp>
          <p:nvSpPr>
            <p:cNvPr name="TextBox 4" id="4"/>
            <p:cNvSpPr txBox="true"/>
            <p:nvPr/>
          </p:nvSpPr>
          <p:spPr>
            <a:xfrm>
              <a:off x="0" y="-38100"/>
              <a:ext cx="4384194" cy="231640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5" id="5"/>
          <p:cNvSpPr/>
          <p:nvPr/>
        </p:nvSpPr>
        <p:spPr>
          <a:xfrm flipH="false" flipV="false" rot="0">
            <a:off x="2550968" y="2057400"/>
            <a:ext cx="5410694" cy="5410694"/>
          </a:xfrm>
          <a:custGeom>
            <a:avLst/>
            <a:gdLst/>
            <a:ahLst/>
            <a:cxnLst/>
            <a:rect r="r" b="b" t="t" l="l"/>
            <a:pathLst>
              <a:path h="5410694" w="5410694">
                <a:moveTo>
                  <a:pt x="0" y="0"/>
                </a:moveTo>
                <a:lnTo>
                  <a:pt x="5410695" y="0"/>
                </a:lnTo>
                <a:lnTo>
                  <a:pt x="5410695" y="5410694"/>
                </a:lnTo>
                <a:lnTo>
                  <a:pt x="0" y="5410694"/>
                </a:lnTo>
                <a:lnTo>
                  <a:pt x="0" y="0"/>
                </a:lnTo>
                <a:close/>
              </a:path>
            </a:pathLst>
          </a:custGeom>
          <a:blipFill>
            <a:blip r:embed="rId2"/>
            <a:stretch>
              <a:fillRect l="0" t="0" r="0" b="0"/>
            </a:stretch>
          </a:blipFill>
        </p:spPr>
      </p:sp>
      <p:sp>
        <p:nvSpPr>
          <p:cNvPr name="TextBox 6" id="6"/>
          <p:cNvSpPr txBox="true"/>
          <p:nvPr/>
        </p:nvSpPr>
        <p:spPr>
          <a:xfrm rot="0">
            <a:off x="9144000" y="3576956"/>
            <a:ext cx="7116921" cy="1566544"/>
          </a:xfrm>
          <a:prstGeom prst="rect">
            <a:avLst/>
          </a:prstGeom>
        </p:spPr>
        <p:txBody>
          <a:bodyPr anchor="t" rtlCol="false" tIns="0" lIns="0" bIns="0" rIns="0">
            <a:spAutoFit/>
          </a:bodyPr>
          <a:lstStyle/>
          <a:p>
            <a:pPr algn="ctr">
              <a:lnSpc>
                <a:spcPts val="12880"/>
              </a:lnSpc>
            </a:pPr>
            <a:r>
              <a:rPr lang="en-US" sz="9200">
                <a:solidFill>
                  <a:srgbClr val="051720"/>
                </a:solidFill>
                <a:latin typeface="Open Sans Bold"/>
              </a:rPr>
              <a:t>GymTracker</a:t>
            </a:r>
          </a:p>
        </p:txBody>
      </p:sp>
      <p:sp>
        <p:nvSpPr>
          <p:cNvPr name="TextBox 7" id="7"/>
          <p:cNvSpPr txBox="true"/>
          <p:nvPr/>
        </p:nvSpPr>
        <p:spPr>
          <a:xfrm rot="0">
            <a:off x="10902106" y="6791926"/>
            <a:ext cx="3974782" cy="2439088"/>
          </a:xfrm>
          <a:prstGeom prst="rect">
            <a:avLst/>
          </a:prstGeom>
        </p:spPr>
        <p:txBody>
          <a:bodyPr anchor="t" rtlCol="false" tIns="0" lIns="0" bIns="0" rIns="0">
            <a:spAutoFit/>
          </a:bodyPr>
          <a:lstStyle/>
          <a:p>
            <a:pPr algn="ctr">
              <a:lnSpc>
                <a:spcPts val="4197"/>
              </a:lnSpc>
            </a:pPr>
            <a:r>
              <a:rPr lang="en-US" sz="2998">
                <a:solidFill>
                  <a:srgbClr val="051720"/>
                </a:solidFill>
                <a:latin typeface="Open Sans Bold"/>
              </a:rPr>
              <a:t>Daniel Marín Gómez</a:t>
            </a:r>
          </a:p>
          <a:p>
            <a:pPr algn="ctr">
              <a:lnSpc>
                <a:spcPts val="4197"/>
              </a:lnSpc>
            </a:pPr>
            <a:r>
              <a:rPr lang="en-US" sz="2998">
                <a:solidFill>
                  <a:srgbClr val="051720"/>
                </a:solidFill>
                <a:latin typeface="Open Sans Bold"/>
              </a:rPr>
              <a:t>Álvaro Gallego Yáñez</a:t>
            </a:r>
          </a:p>
          <a:p>
            <a:pPr algn="ctr">
              <a:lnSpc>
                <a:spcPts val="4197"/>
              </a:lnSpc>
            </a:pPr>
            <a:r>
              <a:rPr lang="en-US" sz="2998">
                <a:solidFill>
                  <a:srgbClr val="051720"/>
                </a:solidFill>
                <a:latin typeface="Open Sans Bold"/>
              </a:rPr>
              <a:t>David Martín Díaz</a:t>
            </a:r>
          </a:p>
          <a:p>
            <a:pPr algn="ctr">
              <a:lnSpc>
                <a:spcPts val="7276"/>
              </a:lnSpc>
            </a:pP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2224294"/>
            <a:ext cx="16627649" cy="7616185"/>
            <a:chOff x="0" y="0"/>
            <a:chExt cx="4379298" cy="2005909"/>
          </a:xfrm>
        </p:grpSpPr>
        <p:sp>
          <p:nvSpPr>
            <p:cNvPr name="Freeform 3" id="3"/>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4" id="4"/>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331153"/>
            <a:ext cx="16627649" cy="3086100"/>
            <a:chOff x="0" y="0"/>
            <a:chExt cx="4379298" cy="812800"/>
          </a:xfrm>
        </p:grpSpPr>
        <p:sp>
          <p:nvSpPr>
            <p:cNvPr name="Freeform 6" id="6"/>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7" id="7"/>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041814"/>
            <a:ext cx="16627649" cy="7611871"/>
            <a:chOff x="0" y="0"/>
            <a:chExt cx="4379298" cy="2004773"/>
          </a:xfrm>
        </p:grpSpPr>
        <p:sp>
          <p:nvSpPr>
            <p:cNvPr name="Freeform 9" id="9"/>
            <p:cNvSpPr/>
            <p:nvPr/>
          </p:nvSpPr>
          <p:spPr>
            <a:xfrm flipH="false" flipV="false" rot="0">
              <a:off x="0" y="0"/>
              <a:ext cx="4379299" cy="2004773"/>
            </a:xfrm>
            <a:custGeom>
              <a:avLst/>
              <a:gdLst/>
              <a:ahLst/>
              <a:cxnLst/>
              <a:rect r="r" b="b" t="t" l="l"/>
              <a:pathLst>
                <a:path h="2004773" w="4379299">
                  <a:moveTo>
                    <a:pt x="23746" y="0"/>
                  </a:moveTo>
                  <a:lnTo>
                    <a:pt x="4355553" y="0"/>
                  </a:lnTo>
                  <a:cubicBezTo>
                    <a:pt x="4368667" y="0"/>
                    <a:pt x="4379299" y="10631"/>
                    <a:pt x="4379299" y="23746"/>
                  </a:cubicBezTo>
                  <a:lnTo>
                    <a:pt x="4379299" y="1981027"/>
                  </a:lnTo>
                  <a:cubicBezTo>
                    <a:pt x="4379299" y="1994141"/>
                    <a:pt x="4368667" y="2004773"/>
                    <a:pt x="4355553" y="2004773"/>
                  </a:cubicBezTo>
                  <a:lnTo>
                    <a:pt x="23746" y="2004773"/>
                  </a:lnTo>
                  <a:cubicBezTo>
                    <a:pt x="10631" y="2004773"/>
                    <a:pt x="0" y="1994141"/>
                    <a:pt x="0" y="1981027"/>
                  </a:cubicBezTo>
                  <a:lnTo>
                    <a:pt x="0" y="23746"/>
                  </a:lnTo>
                  <a:cubicBezTo>
                    <a:pt x="0" y="10631"/>
                    <a:pt x="10631" y="0"/>
                    <a:pt x="23746" y="0"/>
                  </a:cubicBezTo>
                  <a:close/>
                </a:path>
              </a:pathLst>
            </a:custGeom>
            <a:solidFill>
              <a:srgbClr val="FFFFFF"/>
            </a:solidFill>
            <a:ln cap="rnd">
              <a:noFill/>
              <a:prstDash val="solid"/>
              <a:round/>
            </a:ln>
          </p:spPr>
        </p:sp>
        <p:sp>
          <p:nvSpPr>
            <p:cNvPr name="TextBox 10" id="10"/>
            <p:cNvSpPr txBox="true"/>
            <p:nvPr/>
          </p:nvSpPr>
          <p:spPr>
            <a:xfrm>
              <a:off x="0" y="-38100"/>
              <a:ext cx="4379298" cy="20428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3643233" y="459307"/>
            <a:ext cx="11001533"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Propósito del proyecto </a:t>
            </a:r>
          </a:p>
        </p:txBody>
      </p:sp>
      <p:sp>
        <p:nvSpPr>
          <p:cNvPr name="TextBox 12" id="12"/>
          <p:cNvSpPr txBox="true"/>
          <p:nvPr/>
        </p:nvSpPr>
        <p:spPr>
          <a:xfrm rot="0">
            <a:off x="3509262" y="2429056"/>
            <a:ext cx="9073039" cy="6689660"/>
          </a:xfrm>
          <a:prstGeom prst="rect">
            <a:avLst/>
          </a:prstGeom>
        </p:spPr>
        <p:txBody>
          <a:bodyPr anchor="t" rtlCol="false" tIns="0" lIns="0" bIns="0" rIns="0">
            <a:spAutoFit/>
          </a:bodyPr>
          <a:lstStyle/>
          <a:p>
            <a:pPr algn="l" marL="378381" indent="-189191" lvl="1">
              <a:lnSpc>
                <a:spcPts val="2453"/>
              </a:lnSpc>
              <a:spcBef>
                <a:spcPct val="0"/>
              </a:spcBef>
              <a:buFont typeface="Arial"/>
              <a:buChar char="•"/>
            </a:pPr>
            <a:r>
              <a:rPr lang="en-US" sz="1752">
                <a:solidFill>
                  <a:srgbClr val="000000"/>
                </a:solidFill>
                <a:latin typeface="Open Sans"/>
              </a:rPr>
              <a:t>Obj</a:t>
            </a:r>
            <a:r>
              <a:rPr lang="en-US" sz="1752">
                <a:solidFill>
                  <a:srgbClr val="000000"/>
                </a:solidFill>
                <a:latin typeface="Open Sans"/>
              </a:rPr>
              <a:t>etivo Principal:</a:t>
            </a:r>
          </a:p>
          <a:p>
            <a:pPr algn="l" marL="756763" indent="-252254" lvl="2">
              <a:lnSpc>
                <a:spcPts val="2453"/>
              </a:lnSpc>
              <a:spcBef>
                <a:spcPct val="0"/>
              </a:spcBef>
              <a:buFont typeface="Arial"/>
              <a:buChar char="⚬"/>
            </a:pPr>
            <a:r>
              <a:rPr lang="en-US" sz="1752">
                <a:solidFill>
                  <a:srgbClr val="000000"/>
                </a:solidFill>
                <a:latin typeface="Open Sans"/>
              </a:rPr>
              <a:t>Desarrollar una aplicación web completa.</a:t>
            </a:r>
          </a:p>
          <a:p>
            <a:pPr algn="l">
              <a:lnSpc>
                <a:spcPts val="2453"/>
              </a:lnSpc>
              <a:spcBef>
                <a:spcPct val="0"/>
              </a:spcBef>
            </a:pPr>
          </a:p>
          <a:p>
            <a:pPr algn="l" marL="378381" indent="-189191" lvl="1">
              <a:lnSpc>
                <a:spcPts val="2453"/>
              </a:lnSpc>
              <a:spcBef>
                <a:spcPct val="0"/>
              </a:spcBef>
              <a:buFont typeface="Arial"/>
              <a:buChar char="•"/>
            </a:pPr>
            <a:r>
              <a:rPr lang="en-US" sz="1752">
                <a:solidFill>
                  <a:srgbClr val="000000"/>
                </a:solidFill>
                <a:latin typeface="Open Sans"/>
              </a:rPr>
              <a:t>Arquitectura:</a:t>
            </a:r>
          </a:p>
          <a:p>
            <a:pPr algn="l" marL="756763" indent="-252254" lvl="2">
              <a:lnSpc>
                <a:spcPts val="2453"/>
              </a:lnSpc>
              <a:buFont typeface="Arial"/>
              <a:buChar char="⚬"/>
            </a:pPr>
            <a:r>
              <a:rPr lang="en-US" sz="1752">
                <a:solidFill>
                  <a:srgbClr val="000000"/>
                </a:solidFill>
                <a:latin typeface="Open Sans"/>
              </a:rPr>
              <a:t>Utilización de MVC (Modelo Vista Controlador).</a:t>
            </a:r>
          </a:p>
          <a:p>
            <a:pPr algn="l">
              <a:lnSpc>
                <a:spcPts val="2453"/>
              </a:lnSpc>
            </a:pPr>
          </a:p>
          <a:p>
            <a:pPr algn="l" marL="378381" indent="-189191" lvl="1">
              <a:lnSpc>
                <a:spcPts val="2453"/>
              </a:lnSpc>
              <a:spcBef>
                <a:spcPct val="0"/>
              </a:spcBef>
              <a:buFont typeface="Arial"/>
              <a:buChar char="•"/>
            </a:pPr>
            <a:r>
              <a:rPr lang="en-US" sz="1752">
                <a:solidFill>
                  <a:srgbClr val="000000"/>
                </a:solidFill>
                <a:latin typeface="Open Sans"/>
              </a:rPr>
              <a:t>Framework Principal:</a:t>
            </a:r>
          </a:p>
          <a:p>
            <a:pPr algn="l" marL="756763" indent="-252254" lvl="2">
              <a:lnSpc>
                <a:spcPts val="2453"/>
              </a:lnSpc>
              <a:spcBef>
                <a:spcPct val="0"/>
              </a:spcBef>
              <a:buFont typeface="Arial"/>
              <a:buChar char="⚬"/>
            </a:pPr>
            <a:r>
              <a:rPr lang="en-US" sz="1752">
                <a:solidFill>
                  <a:srgbClr val="000000"/>
                </a:solidFill>
                <a:latin typeface="Open Sans"/>
              </a:rPr>
              <a:t>Spring Boot.</a:t>
            </a:r>
          </a:p>
          <a:p>
            <a:pPr algn="l">
              <a:lnSpc>
                <a:spcPts val="2453"/>
              </a:lnSpc>
              <a:spcBef>
                <a:spcPct val="0"/>
              </a:spcBef>
            </a:pPr>
          </a:p>
          <a:p>
            <a:pPr algn="l" marL="378381" indent="-189191" lvl="1">
              <a:lnSpc>
                <a:spcPts val="2453"/>
              </a:lnSpc>
              <a:spcBef>
                <a:spcPct val="0"/>
              </a:spcBef>
              <a:buFont typeface="Arial"/>
              <a:buChar char="•"/>
            </a:pPr>
            <a:r>
              <a:rPr lang="en-US" sz="1752">
                <a:solidFill>
                  <a:srgbClr val="000000"/>
                </a:solidFill>
                <a:latin typeface="Open Sans"/>
              </a:rPr>
              <a:t>Temática:</a:t>
            </a:r>
          </a:p>
          <a:p>
            <a:pPr algn="l" marL="756763" indent="-252254" lvl="2">
              <a:lnSpc>
                <a:spcPts val="2453"/>
              </a:lnSpc>
              <a:spcBef>
                <a:spcPct val="0"/>
              </a:spcBef>
              <a:buFont typeface="Arial"/>
              <a:buChar char="⚬"/>
            </a:pPr>
            <a:r>
              <a:rPr lang="en-US" sz="1752">
                <a:solidFill>
                  <a:srgbClr val="000000"/>
                </a:solidFill>
                <a:latin typeface="Open Sans"/>
              </a:rPr>
              <a:t>Gimnasio.</a:t>
            </a:r>
          </a:p>
          <a:p>
            <a:pPr algn="l">
              <a:lnSpc>
                <a:spcPts val="2453"/>
              </a:lnSpc>
              <a:spcBef>
                <a:spcPct val="0"/>
              </a:spcBef>
            </a:pPr>
          </a:p>
          <a:p>
            <a:pPr algn="l" marL="378381" indent="-189191" lvl="1">
              <a:lnSpc>
                <a:spcPts val="2453"/>
              </a:lnSpc>
              <a:spcBef>
                <a:spcPct val="0"/>
              </a:spcBef>
              <a:buFont typeface="Arial"/>
              <a:buChar char="•"/>
            </a:pPr>
            <a:r>
              <a:rPr lang="en-US" sz="1752">
                <a:solidFill>
                  <a:srgbClr val="000000"/>
                </a:solidFill>
                <a:latin typeface="Open Sans"/>
              </a:rPr>
              <a:t>Funcionalidades Clave:</a:t>
            </a:r>
          </a:p>
          <a:p>
            <a:pPr algn="l" marL="756763" indent="-252254" lvl="2">
              <a:lnSpc>
                <a:spcPts val="2453"/>
              </a:lnSpc>
              <a:spcBef>
                <a:spcPct val="0"/>
              </a:spcBef>
              <a:buFont typeface="Arial"/>
              <a:buChar char="⚬"/>
            </a:pPr>
            <a:r>
              <a:rPr lang="en-US" sz="1752">
                <a:solidFill>
                  <a:srgbClr val="000000"/>
                </a:solidFill>
                <a:latin typeface="Open Sans"/>
              </a:rPr>
              <a:t>Creación y gestión de perfiles de usuario.</a:t>
            </a:r>
          </a:p>
          <a:p>
            <a:pPr algn="l" marL="756763" indent="-252254" lvl="2">
              <a:lnSpc>
                <a:spcPts val="2453"/>
              </a:lnSpc>
              <a:spcBef>
                <a:spcPct val="0"/>
              </a:spcBef>
              <a:buFont typeface="Arial"/>
              <a:buChar char="⚬"/>
            </a:pPr>
            <a:r>
              <a:rPr lang="en-US" sz="1752">
                <a:solidFill>
                  <a:srgbClr val="000000"/>
                </a:solidFill>
                <a:latin typeface="Open Sans"/>
              </a:rPr>
              <a:t>Gestión de rutinas de entrenamiento.</a:t>
            </a:r>
          </a:p>
          <a:p>
            <a:pPr algn="l" marL="756763" indent="-252254" lvl="2">
              <a:lnSpc>
                <a:spcPts val="2453"/>
              </a:lnSpc>
              <a:spcBef>
                <a:spcPct val="0"/>
              </a:spcBef>
              <a:buFont typeface="Arial"/>
              <a:buChar char="⚬"/>
            </a:pPr>
            <a:r>
              <a:rPr lang="en-US" sz="1752">
                <a:solidFill>
                  <a:srgbClr val="000000"/>
                </a:solidFill>
                <a:latin typeface="Open Sans"/>
              </a:rPr>
              <a:t>Registro y almacenamiento de rutinas para crear un diario de entrenamientos.</a:t>
            </a:r>
          </a:p>
          <a:p>
            <a:pPr algn="l">
              <a:lnSpc>
                <a:spcPts val="2453"/>
              </a:lnSpc>
              <a:spcBef>
                <a:spcPct val="0"/>
              </a:spcBef>
            </a:pPr>
          </a:p>
          <a:p>
            <a:pPr algn="l" marL="378381" indent="-189191" lvl="1">
              <a:lnSpc>
                <a:spcPts val="2453"/>
              </a:lnSpc>
              <a:spcBef>
                <a:spcPct val="0"/>
              </a:spcBef>
              <a:buFont typeface="Arial"/>
              <a:buChar char="•"/>
            </a:pPr>
            <a:r>
              <a:rPr lang="en-US" sz="1752">
                <a:solidFill>
                  <a:srgbClr val="000000"/>
                </a:solidFill>
                <a:latin typeface="Open Sans"/>
              </a:rPr>
              <a:t>Beneficios:</a:t>
            </a:r>
          </a:p>
          <a:p>
            <a:pPr algn="l" marL="756763" indent="-252254" lvl="2">
              <a:lnSpc>
                <a:spcPts val="2453"/>
              </a:lnSpc>
              <a:spcBef>
                <a:spcPct val="0"/>
              </a:spcBef>
              <a:buFont typeface="Arial"/>
              <a:buChar char="⚬"/>
            </a:pPr>
            <a:r>
              <a:rPr lang="en-US" sz="1752">
                <a:solidFill>
                  <a:srgbClr val="000000"/>
                </a:solidFill>
                <a:latin typeface="Open Sans"/>
              </a:rPr>
              <a:t>Facilitar la organización y seguimiento de los entrenamientos.</a:t>
            </a:r>
          </a:p>
          <a:p>
            <a:pPr algn="l" marL="756763" indent="-252254" lvl="2">
              <a:lnSpc>
                <a:spcPts val="2453"/>
              </a:lnSpc>
              <a:spcBef>
                <a:spcPct val="0"/>
              </a:spcBef>
              <a:buFont typeface="Arial"/>
              <a:buChar char="⚬"/>
            </a:pPr>
            <a:r>
              <a:rPr lang="en-US" sz="1752">
                <a:solidFill>
                  <a:srgbClr val="000000"/>
                </a:solidFill>
                <a:latin typeface="Open Sans"/>
              </a:rPr>
              <a:t>Mejorar la experiencia del usuario en la gestión de sus actividades físicas.</a:t>
            </a:r>
          </a:p>
          <a:p>
            <a:pPr algn="l" marL="756763" indent="-252254" lvl="2">
              <a:lnSpc>
                <a:spcPts val="2453"/>
              </a:lnSpc>
              <a:spcBef>
                <a:spcPct val="0"/>
              </a:spcBef>
              <a:buFont typeface="Arial"/>
              <a:buChar char="⚬"/>
            </a:pPr>
            <a:r>
              <a:rPr lang="en-US" sz="1752">
                <a:solidFill>
                  <a:srgbClr val="000000"/>
                </a:solidFill>
                <a:latin typeface="Open Sans"/>
              </a:rPr>
              <a:t>Ayudar a los usuarios a alcanzar sus objetivos de fitness de manera eficiente.</a:t>
            </a:r>
          </a:p>
          <a:p>
            <a:pPr algn="l">
              <a:lnSpc>
                <a:spcPts val="2453"/>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2224294"/>
            <a:ext cx="16627649" cy="7616185"/>
            <a:chOff x="0" y="0"/>
            <a:chExt cx="4379298" cy="2005909"/>
          </a:xfrm>
        </p:grpSpPr>
        <p:sp>
          <p:nvSpPr>
            <p:cNvPr name="Freeform 3" id="3"/>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4" id="4"/>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331153"/>
            <a:ext cx="16627649" cy="3086100"/>
            <a:chOff x="0" y="0"/>
            <a:chExt cx="4379298" cy="812800"/>
          </a:xfrm>
        </p:grpSpPr>
        <p:sp>
          <p:nvSpPr>
            <p:cNvPr name="Freeform 6" id="6"/>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7" id="7"/>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041814"/>
            <a:ext cx="16627649" cy="7611871"/>
            <a:chOff x="0" y="0"/>
            <a:chExt cx="4379298" cy="2004773"/>
          </a:xfrm>
        </p:grpSpPr>
        <p:sp>
          <p:nvSpPr>
            <p:cNvPr name="Freeform 9" id="9"/>
            <p:cNvSpPr/>
            <p:nvPr/>
          </p:nvSpPr>
          <p:spPr>
            <a:xfrm flipH="false" flipV="false" rot="0">
              <a:off x="0" y="0"/>
              <a:ext cx="4379299" cy="2004773"/>
            </a:xfrm>
            <a:custGeom>
              <a:avLst/>
              <a:gdLst/>
              <a:ahLst/>
              <a:cxnLst/>
              <a:rect r="r" b="b" t="t" l="l"/>
              <a:pathLst>
                <a:path h="2004773" w="4379299">
                  <a:moveTo>
                    <a:pt x="23746" y="0"/>
                  </a:moveTo>
                  <a:lnTo>
                    <a:pt x="4355553" y="0"/>
                  </a:lnTo>
                  <a:cubicBezTo>
                    <a:pt x="4368667" y="0"/>
                    <a:pt x="4379299" y="10631"/>
                    <a:pt x="4379299" y="23746"/>
                  </a:cubicBezTo>
                  <a:lnTo>
                    <a:pt x="4379299" y="1981027"/>
                  </a:lnTo>
                  <a:cubicBezTo>
                    <a:pt x="4379299" y="1994141"/>
                    <a:pt x="4368667" y="2004773"/>
                    <a:pt x="4355553" y="2004773"/>
                  </a:cubicBezTo>
                  <a:lnTo>
                    <a:pt x="23746" y="2004773"/>
                  </a:lnTo>
                  <a:cubicBezTo>
                    <a:pt x="10631" y="2004773"/>
                    <a:pt x="0" y="1994141"/>
                    <a:pt x="0" y="1981027"/>
                  </a:cubicBezTo>
                  <a:lnTo>
                    <a:pt x="0" y="23746"/>
                  </a:lnTo>
                  <a:cubicBezTo>
                    <a:pt x="0" y="10631"/>
                    <a:pt x="10631" y="0"/>
                    <a:pt x="23746" y="0"/>
                  </a:cubicBezTo>
                  <a:close/>
                </a:path>
              </a:pathLst>
            </a:custGeom>
            <a:solidFill>
              <a:srgbClr val="FFFFFF"/>
            </a:solidFill>
            <a:ln cap="rnd">
              <a:noFill/>
              <a:prstDash val="solid"/>
              <a:round/>
            </a:ln>
          </p:spPr>
        </p:sp>
        <p:sp>
          <p:nvSpPr>
            <p:cNvPr name="TextBox 10" id="10"/>
            <p:cNvSpPr txBox="true"/>
            <p:nvPr/>
          </p:nvSpPr>
          <p:spPr>
            <a:xfrm>
              <a:off x="0" y="-38100"/>
              <a:ext cx="4379298" cy="20428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399817" y="2545056"/>
            <a:ext cx="1795747" cy="1795747"/>
          </a:xfrm>
          <a:custGeom>
            <a:avLst/>
            <a:gdLst/>
            <a:ahLst/>
            <a:cxnLst/>
            <a:rect r="r" b="b" t="t" l="l"/>
            <a:pathLst>
              <a:path h="1795747" w="1795747">
                <a:moveTo>
                  <a:pt x="0" y="0"/>
                </a:moveTo>
                <a:lnTo>
                  <a:pt x="1795746" y="0"/>
                </a:lnTo>
                <a:lnTo>
                  <a:pt x="1795746" y="1795746"/>
                </a:lnTo>
                <a:lnTo>
                  <a:pt x="0" y="1795746"/>
                </a:lnTo>
                <a:lnTo>
                  <a:pt x="0" y="0"/>
                </a:lnTo>
                <a:close/>
              </a:path>
            </a:pathLst>
          </a:custGeom>
          <a:blipFill>
            <a:blip r:embed="rId2"/>
            <a:stretch>
              <a:fillRect l="0" t="0" r="0" b="0"/>
            </a:stretch>
          </a:blipFill>
        </p:spPr>
      </p:sp>
      <p:sp>
        <p:nvSpPr>
          <p:cNvPr name="Freeform 12" id="12"/>
          <p:cNvSpPr/>
          <p:nvPr/>
        </p:nvSpPr>
        <p:spPr>
          <a:xfrm flipH="false" flipV="false" rot="0">
            <a:off x="15268724" y="7024614"/>
            <a:ext cx="1990576" cy="1990576"/>
          </a:xfrm>
          <a:custGeom>
            <a:avLst/>
            <a:gdLst/>
            <a:ahLst/>
            <a:cxnLst/>
            <a:rect r="r" b="b" t="t" l="l"/>
            <a:pathLst>
              <a:path h="1990576" w="1990576">
                <a:moveTo>
                  <a:pt x="0" y="0"/>
                </a:moveTo>
                <a:lnTo>
                  <a:pt x="1990576" y="0"/>
                </a:lnTo>
                <a:lnTo>
                  <a:pt x="1990576" y="1990576"/>
                </a:lnTo>
                <a:lnTo>
                  <a:pt x="0" y="1990576"/>
                </a:lnTo>
                <a:lnTo>
                  <a:pt x="0" y="0"/>
                </a:lnTo>
                <a:close/>
              </a:path>
            </a:pathLst>
          </a:custGeom>
          <a:blipFill>
            <a:blip r:embed="rId2"/>
            <a:stretch>
              <a:fillRect l="0" t="0" r="0" b="0"/>
            </a:stretch>
          </a:blipFill>
        </p:spPr>
      </p:sp>
      <p:sp>
        <p:nvSpPr>
          <p:cNvPr name="Freeform 13" id="13"/>
          <p:cNvSpPr/>
          <p:nvPr/>
        </p:nvSpPr>
        <p:spPr>
          <a:xfrm flipH="false" flipV="false" rot="0">
            <a:off x="4484459" y="3605286"/>
            <a:ext cx="3360319" cy="2546492"/>
          </a:xfrm>
          <a:custGeom>
            <a:avLst/>
            <a:gdLst/>
            <a:ahLst/>
            <a:cxnLst/>
            <a:rect r="r" b="b" t="t" l="l"/>
            <a:pathLst>
              <a:path h="2546492" w="3360319">
                <a:moveTo>
                  <a:pt x="0" y="0"/>
                </a:moveTo>
                <a:lnTo>
                  <a:pt x="3360319" y="0"/>
                </a:lnTo>
                <a:lnTo>
                  <a:pt x="3360319" y="2546492"/>
                </a:lnTo>
                <a:lnTo>
                  <a:pt x="0" y="2546492"/>
                </a:lnTo>
                <a:lnTo>
                  <a:pt x="0" y="0"/>
                </a:lnTo>
                <a:close/>
              </a:path>
            </a:pathLst>
          </a:custGeom>
          <a:blipFill>
            <a:blip r:embed="rId3"/>
            <a:stretch>
              <a:fillRect l="0" t="0" r="0" b="0"/>
            </a:stretch>
          </a:blipFill>
        </p:spPr>
      </p:sp>
      <p:sp>
        <p:nvSpPr>
          <p:cNvPr name="Freeform 14" id="14"/>
          <p:cNvSpPr/>
          <p:nvPr/>
        </p:nvSpPr>
        <p:spPr>
          <a:xfrm flipH="false" flipV="false" rot="0">
            <a:off x="9342524" y="4283653"/>
            <a:ext cx="3736249" cy="3736249"/>
          </a:xfrm>
          <a:custGeom>
            <a:avLst/>
            <a:gdLst/>
            <a:ahLst/>
            <a:cxnLst/>
            <a:rect r="r" b="b" t="t" l="l"/>
            <a:pathLst>
              <a:path h="3736249" w="3736249">
                <a:moveTo>
                  <a:pt x="0" y="0"/>
                </a:moveTo>
                <a:lnTo>
                  <a:pt x="3736249" y="0"/>
                </a:lnTo>
                <a:lnTo>
                  <a:pt x="3736249" y="3736249"/>
                </a:lnTo>
                <a:lnTo>
                  <a:pt x="0" y="3736249"/>
                </a:lnTo>
                <a:lnTo>
                  <a:pt x="0" y="0"/>
                </a:lnTo>
                <a:close/>
              </a:path>
            </a:pathLst>
          </a:custGeom>
          <a:blipFill>
            <a:blip r:embed="rId4"/>
            <a:stretch>
              <a:fillRect l="0" t="0" r="0" b="0"/>
            </a:stretch>
          </a:blipFill>
        </p:spPr>
      </p:sp>
      <p:sp>
        <p:nvSpPr>
          <p:cNvPr name="Freeform 15" id="15"/>
          <p:cNvSpPr/>
          <p:nvPr/>
        </p:nvSpPr>
        <p:spPr>
          <a:xfrm flipH="false" flipV="false" rot="0">
            <a:off x="13897294" y="2301962"/>
            <a:ext cx="3362006" cy="2038840"/>
          </a:xfrm>
          <a:custGeom>
            <a:avLst/>
            <a:gdLst/>
            <a:ahLst/>
            <a:cxnLst/>
            <a:rect r="r" b="b" t="t" l="l"/>
            <a:pathLst>
              <a:path h="2038840" w="3362006">
                <a:moveTo>
                  <a:pt x="0" y="0"/>
                </a:moveTo>
                <a:lnTo>
                  <a:pt x="3362006" y="0"/>
                </a:lnTo>
                <a:lnTo>
                  <a:pt x="3362006" y="2038840"/>
                </a:lnTo>
                <a:lnTo>
                  <a:pt x="0" y="2038840"/>
                </a:lnTo>
                <a:lnTo>
                  <a:pt x="0" y="0"/>
                </a:lnTo>
                <a:close/>
              </a:path>
            </a:pathLst>
          </a:custGeom>
          <a:blipFill>
            <a:blip r:embed="rId5"/>
            <a:stretch>
              <a:fillRect l="0" t="0" r="0" b="0"/>
            </a:stretch>
          </a:blipFill>
        </p:spPr>
      </p:sp>
      <p:sp>
        <p:nvSpPr>
          <p:cNvPr name="Freeform 16" id="16"/>
          <p:cNvSpPr/>
          <p:nvPr/>
        </p:nvSpPr>
        <p:spPr>
          <a:xfrm flipH="false" flipV="false" rot="6693763">
            <a:off x="12361003" y="2264187"/>
            <a:ext cx="1899106" cy="2114389"/>
          </a:xfrm>
          <a:custGeom>
            <a:avLst/>
            <a:gdLst/>
            <a:ahLst/>
            <a:cxnLst/>
            <a:rect r="r" b="b" t="t" l="l"/>
            <a:pathLst>
              <a:path h="2114389" w="1899106">
                <a:moveTo>
                  <a:pt x="0" y="0"/>
                </a:moveTo>
                <a:lnTo>
                  <a:pt x="1899107" y="0"/>
                </a:lnTo>
                <a:lnTo>
                  <a:pt x="1899107" y="2114390"/>
                </a:lnTo>
                <a:lnTo>
                  <a:pt x="0" y="211439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3895926">
            <a:off x="13429578" y="7655098"/>
            <a:ext cx="842005" cy="2271896"/>
          </a:xfrm>
          <a:custGeom>
            <a:avLst/>
            <a:gdLst/>
            <a:ahLst/>
            <a:cxnLst/>
            <a:rect r="r" b="b" t="t" l="l"/>
            <a:pathLst>
              <a:path h="2271896" w="842005">
                <a:moveTo>
                  <a:pt x="0" y="0"/>
                </a:moveTo>
                <a:lnTo>
                  <a:pt x="842005" y="0"/>
                </a:lnTo>
                <a:lnTo>
                  <a:pt x="842005" y="2271896"/>
                </a:lnTo>
                <a:lnTo>
                  <a:pt x="0" y="22718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7316593" y="449055"/>
            <a:ext cx="5015706"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Estructura</a:t>
            </a:r>
          </a:p>
        </p:txBody>
      </p:sp>
      <p:sp>
        <p:nvSpPr>
          <p:cNvPr name="Freeform 19" id="19"/>
          <p:cNvSpPr/>
          <p:nvPr/>
        </p:nvSpPr>
        <p:spPr>
          <a:xfrm flipH="false" flipV="false" rot="-3895926">
            <a:off x="7423775" y="6021316"/>
            <a:ext cx="842005" cy="2271896"/>
          </a:xfrm>
          <a:custGeom>
            <a:avLst/>
            <a:gdLst/>
            <a:ahLst/>
            <a:cxnLst/>
            <a:rect r="r" b="b" t="t" l="l"/>
            <a:pathLst>
              <a:path h="2271896" w="842005">
                <a:moveTo>
                  <a:pt x="0" y="0"/>
                </a:moveTo>
                <a:lnTo>
                  <a:pt x="842005" y="0"/>
                </a:lnTo>
                <a:lnTo>
                  <a:pt x="842005" y="2271895"/>
                </a:lnTo>
                <a:lnTo>
                  <a:pt x="0" y="22718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2897904">
            <a:off x="2774561" y="4217725"/>
            <a:ext cx="842005" cy="2271896"/>
          </a:xfrm>
          <a:custGeom>
            <a:avLst/>
            <a:gdLst/>
            <a:ahLst/>
            <a:cxnLst/>
            <a:rect r="r" b="b" t="t" l="l"/>
            <a:pathLst>
              <a:path h="2271896" w="842005">
                <a:moveTo>
                  <a:pt x="0" y="0"/>
                </a:moveTo>
                <a:lnTo>
                  <a:pt x="842005" y="0"/>
                </a:lnTo>
                <a:lnTo>
                  <a:pt x="842005" y="2271895"/>
                </a:lnTo>
                <a:lnTo>
                  <a:pt x="0" y="227189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7042736">
            <a:off x="14131810" y="5272013"/>
            <a:ext cx="826893" cy="2231121"/>
          </a:xfrm>
          <a:custGeom>
            <a:avLst/>
            <a:gdLst/>
            <a:ahLst/>
            <a:cxnLst/>
            <a:rect r="r" b="b" t="t" l="l"/>
            <a:pathLst>
              <a:path h="2231121" w="826893">
                <a:moveTo>
                  <a:pt x="0" y="0"/>
                </a:moveTo>
                <a:lnTo>
                  <a:pt x="826893" y="0"/>
                </a:lnTo>
                <a:lnTo>
                  <a:pt x="826893" y="2231121"/>
                </a:lnTo>
                <a:lnTo>
                  <a:pt x="0" y="22311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2" id="22"/>
          <p:cNvSpPr txBox="true"/>
          <p:nvPr/>
        </p:nvSpPr>
        <p:spPr>
          <a:xfrm rot="0">
            <a:off x="2017805" y="2548519"/>
            <a:ext cx="559771" cy="569039"/>
          </a:xfrm>
          <a:prstGeom prst="rect">
            <a:avLst/>
          </a:prstGeom>
        </p:spPr>
        <p:txBody>
          <a:bodyPr anchor="t" rtlCol="false" tIns="0" lIns="0" bIns="0" rIns="0">
            <a:spAutoFit/>
          </a:bodyPr>
          <a:lstStyle/>
          <a:p>
            <a:pPr algn="ctr">
              <a:lnSpc>
                <a:spcPts val="4618"/>
              </a:lnSpc>
            </a:pPr>
            <a:r>
              <a:rPr lang="en-US" sz="3298">
                <a:solidFill>
                  <a:srgbClr val="000000"/>
                </a:solidFill>
                <a:latin typeface="Open Sans Bold"/>
              </a:rPr>
              <a:t>H2</a:t>
            </a:r>
          </a:p>
        </p:txBody>
      </p:sp>
      <p:sp>
        <p:nvSpPr>
          <p:cNvPr name="TextBox 23" id="23"/>
          <p:cNvSpPr txBox="true"/>
          <p:nvPr/>
        </p:nvSpPr>
        <p:spPr>
          <a:xfrm rot="0">
            <a:off x="15814034" y="7109639"/>
            <a:ext cx="974289" cy="436966"/>
          </a:xfrm>
          <a:prstGeom prst="rect">
            <a:avLst/>
          </a:prstGeom>
        </p:spPr>
        <p:txBody>
          <a:bodyPr anchor="t" rtlCol="false" tIns="0" lIns="0" bIns="0" rIns="0">
            <a:spAutoFit/>
          </a:bodyPr>
          <a:lstStyle/>
          <a:p>
            <a:pPr algn="ctr">
              <a:lnSpc>
                <a:spcPts val="3579"/>
              </a:lnSpc>
            </a:pPr>
            <a:r>
              <a:rPr lang="en-US" sz="2556">
                <a:solidFill>
                  <a:srgbClr val="000000"/>
                </a:solidFill>
                <a:latin typeface="Open Sans Bold"/>
              </a:rPr>
              <a:t>MySql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331153"/>
            <a:ext cx="16627649" cy="3086100"/>
            <a:chOff x="0" y="0"/>
            <a:chExt cx="4379298" cy="812800"/>
          </a:xfrm>
        </p:grpSpPr>
        <p:sp>
          <p:nvSpPr>
            <p:cNvPr name="Freeform 3" id="3"/>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4" id="4"/>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2224294"/>
            <a:ext cx="16627649" cy="7616185"/>
            <a:chOff x="0" y="0"/>
            <a:chExt cx="4379298" cy="2005909"/>
          </a:xfrm>
        </p:grpSpPr>
        <p:sp>
          <p:nvSpPr>
            <p:cNvPr name="Freeform 6" id="6"/>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7" id="7"/>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8" id="8"/>
          <p:cNvGrpSpPr/>
          <p:nvPr/>
        </p:nvGrpSpPr>
        <p:grpSpPr>
          <a:xfrm rot="0">
            <a:off x="1028700" y="2010641"/>
            <a:ext cx="16646236" cy="7668491"/>
            <a:chOff x="0" y="0"/>
            <a:chExt cx="4384194" cy="2019685"/>
          </a:xfrm>
        </p:grpSpPr>
        <p:sp>
          <p:nvSpPr>
            <p:cNvPr name="Freeform 9" id="9"/>
            <p:cNvSpPr/>
            <p:nvPr/>
          </p:nvSpPr>
          <p:spPr>
            <a:xfrm flipH="false" flipV="false" rot="0">
              <a:off x="0" y="0"/>
              <a:ext cx="4384194" cy="2019685"/>
            </a:xfrm>
            <a:custGeom>
              <a:avLst/>
              <a:gdLst/>
              <a:ahLst/>
              <a:cxnLst/>
              <a:rect r="r" b="b" t="t" l="l"/>
              <a:pathLst>
                <a:path h="2019685" w="4384194">
                  <a:moveTo>
                    <a:pt x="23719" y="0"/>
                  </a:moveTo>
                  <a:lnTo>
                    <a:pt x="4360474" y="0"/>
                  </a:lnTo>
                  <a:cubicBezTo>
                    <a:pt x="4366765" y="0"/>
                    <a:pt x="4372798" y="2499"/>
                    <a:pt x="4377246" y="6947"/>
                  </a:cubicBezTo>
                  <a:cubicBezTo>
                    <a:pt x="4381695" y="11395"/>
                    <a:pt x="4384194" y="17429"/>
                    <a:pt x="4384194" y="23719"/>
                  </a:cubicBezTo>
                  <a:lnTo>
                    <a:pt x="4384194" y="1995966"/>
                  </a:lnTo>
                  <a:cubicBezTo>
                    <a:pt x="4384194" y="2002256"/>
                    <a:pt x="4381695" y="2008289"/>
                    <a:pt x="4377246" y="2012738"/>
                  </a:cubicBezTo>
                  <a:cubicBezTo>
                    <a:pt x="4372798" y="2017186"/>
                    <a:pt x="4366765" y="2019685"/>
                    <a:pt x="4360474" y="2019685"/>
                  </a:cubicBezTo>
                  <a:lnTo>
                    <a:pt x="23719" y="2019685"/>
                  </a:lnTo>
                  <a:cubicBezTo>
                    <a:pt x="17429" y="2019685"/>
                    <a:pt x="11395" y="2017186"/>
                    <a:pt x="6947" y="2012738"/>
                  </a:cubicBezTo>
                  <a:cubicBezTo>
                    <a:pt x="2499" y="2008289"/>
                    <a:pt x="0" y="2002256"/>
                    <a:pt x="0" y="1995966"/>
                  </a:cubicBezTo>
                  <a:lnTo>
                    <a:pt x="0" y="23719"/>
                  </a:lnTo>
                  <a:cubicBezTo>
                    <a:pt x="0" y="17429"/>
                    <a:pt x="2499" y="11395"/>
                    <a:pt x="6947" y="6947"/>
                  </a:cubicBezTo>
                  <a:cubicBezTo>
                    <a:pt x="11395" y="2499"/>
                    <a:pt x="17429" y="0"/>
                    <a:pt x="23719" y="0"/>
                  </a:cubicBezTo>
                  <a:close/>
                </a:path>
              </a:pathLst>
            </a:custGeom>
            <a:solidFill>
              <a:srgbClr val="FFFFFF"/>
            </a:solidFill>
            <a:ln cap="rnd">
              <a:noFill/>
              <a:prstDash val="solid"/>
              <a:round/>
            </a:ln>
          </p:spPr>
        </p:sp>
        <p:sp>
          <p:nvSpPr>
            <p:cNvPr name="TextBox 10" id="10"/>
            <p:cNvSpPr txBox="true"/>
            <p:nvPr/>
          </p:nvSpPr>
          <p:spPr>
            <a:xfrm>
              <a:off x="0" y="-38100"/>
              <a:ext cx="4384194" cy="2057785"/>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192671" y="2400513"/>
            <a:ext cx="1695237" cy="1695237"/>
          </a:xfrm>
          <a:custGeom>
            <a:avLst/>
            <a:gdLst/>
            <a:ahLst/>
            <a:cxnLst/>
            <a:rect r="r" b="b" t="t" l="l"/>
            <a:pathLst>
              <a:path h="1695237" w="1695237">
                <a:moveTo>
                  <a:pt x="0" y="0"/>
                </a:moveTo>
                <a:lnTo>
                  <a:pt x="1695236" y="0"/>
                </a:lnTo>
                <a:lnTo>
                  <a:pt x="1695236" y="1695237"/>
                </a:lnTo>
                <a:lnTo>
                  <a:pt x="0" y="1695237"/>
                </a:lnTo>
                <a:lnTo>
                  <a:pt x="0" y="0"/>
                </a:lnTo>
                <a:close/>
              </a:path>
            </a:pathLst>
          </a:custGeom>
          <a:blipFill>
            <a:blip r:embed="rId2"/>
            <a:stretch>
              <a:fillRect l="0" t="0" r="0" b="0"/>
            </a:stretch>
          </a:blipFill>
        </p:spPr>
      </p:sp>
      <p:sp>
        <p:nvSpPr>
          <p:cNvPr name="Freeform 12" id="12"/>
          <p:cNvSpPr/>
          <p:nvPr/>
        </p:nvSpPr>
        <p:spPr>
          <a:xfrm flipH="false" flipV="false" rot="0">
            <a:off x="3168310" y="2385267"/>
            <a:ext cx="1265092" cy="1784834"/>
          </a:xfrm>
          <a:custGeom>
            <a:avLst/>
            <a:gdLst/>
            <a:ahLst/>
            <a:cxnLst/>
            <a:rect r="r" b="b" t="t" l="l"/>
            <a:pathLst>
              <a:path h="1784834" w="1265092">
                <a:moveTo>
                  <a:pt x="0" y="0"/>
                </a:moveTo>
                <a:lnTo>
                  <a:pt x="1265092" y="0"/>
                </a:lnTo>
                <a:lnTo>
                  <a:pt x="1265092" y="1784834"/>
                </a:lnTo>
                <a:lnTo>
                  <a:pt x="0" y="1784834"/>
                </a:lnTo>
                <a:lnTo>
                  <a:pt x="0" y="0"/>
                </a:lnTo>
                <a:close/>
              </a:path>
            </a:pathLst>
          </a:custGeom>
          <a:blipFill>
            <a:blip r:embed="rId3"/>
            <a:stretch>
              <a:fillRect l="0" t="0" r="0" b="0"/>
            </a:stretch>
          </a:blipFill>
        </p:spPr>
      </p:sp>
      <p:sp>
        <p:nvSpPr>
          <p:cNvPr name="Freeform 13" id="13"/>
          <p:cNvSpPr/>
          <p:nvPr/>
        </p:nvSpPr>
        <p:spPr>
          <a:xfrm flipH="false" flipV="false" rot="0">
            <a:off x="3069034" y="5236194"/>
            <a:ext cx="1463644" cy="1540947"/>
          </a:xfrm>
          <a:custGeom>
            <a:avLst/>
            <a:gdLst/>
            <a:ahLst/>
            <a:cxnLst/>
            <a:rect r="r" b="b" t="t" l="l"/>
            <a:pathLst>
              <a:path h="1540947" w="1463644">
                <a:moveTo>
                  <a:pt x="0" y="0"/>
                </a:moveTo>
                <a:lnTo>
                  <a:pt x="1463644" y="0"/>
                </a:lnTo>
                <a:lnTo>
                  <a:pt x="1463644" y="1540947"/>
                </a:lnTo>
                <a:lnTo>
                  <a:pt x="0" y="1540947"/>
                </a:lnTo>
                <a:lnTo>
                  <a:pt x="0" y="0"/>
                </a:lnTo>
                <a:close/>
              </a:path>
            </a:pathLst>
          </a:custGeom>
          <a:blipFill>
            <a:blip r:embed="rId4"/>
            <a:stretch>
              <a:fillRect l="-5281" t="0" r="0" b="0"/>
            </a:stretch>
          </a:blipFill>
        </p:spPr>
      </p:sp>
      <p:sp>
        <p:nvSpPr>
          <p:cNvPr name="Freeform 14" id="14"/>
          <p:cNvSpPr/>
          <p:nvPr/>
        </p:nvSpPr>
        <p:spPr>
          <a:xfrm flipH="false" flipV="false" rot="0">
            <a:off x="4809662" y="2705204"/>
            <a:ext cx="1677519" cy="1336423"/>
          </a:xfrm>
          <a:custGeom>
            <a:avLst/>
            <a:gdLst/>
            <a:ahLst/>
            <a:cxnLst/>
            <a:rect r="r" b="b" t="t" l="l"/>
            <a:pathLst>
              <a:path h="1336423" w="1677519">
                <a:moveTo>
                  <a:pt x="0" y="0"/>
                </a:moveTo>
                <a:lnTo>
                  <a:pt x="1677519" y="0"/>
                </a:lnTo>
                <a:lnTo>
                  <a:pt x="1677519" y="1336423"/>
                </a:lnTo>
                <a:lnTo>
                  <a:pt x="0" y="1336423"/>
                </a:lnTo>
                <a:lnTo>
                  <a:pt x="0" y="0"/>
                </a:lnTo>
                <a:close/>
              </a:path>
            </a:pathLst>
          </a:custGeom>
          <a:blipFill>
            <a:blip r:embed="rId5"/>
            <a:stretch>
              <a:fillRect l="0" t="0" r="0" b="0"/>
            </a:stretch>
          </a:blipFill>
        </p:spPr>
      </p:sp>
      <p:sp>
        <p:nvSpPr>
          <p:cNvPr name="Freeform 15" id="15"/>
          <p:cNvSpPr/>
          <p:nvPr/>
        </p:nvSpPr>
        <p:spPr>
          <a:xfrm flipH="false" flipV="false" rot="0">
            <a:off x="13546769" y="4953836"/>
            <a:ext cx="3449513" cy="1782101"/>
          </a:xfrm>
          <a:custGeom>
            <a:avLst/>
            <a:gdLst/>
            <a:ahLst/>
            <a:cxnLst/>
            <a:rect r="r" b="b" t="t" l="l"/>
            <a:pathLst>
              <a:path h="1782101" w="3449513">
                <a:moveTo>
                  <a:pt x="0" y="0"/>
                </a:moveTo>
                <a:lnTo>
                  <a:pt x="3449513" y="0"/>
                </a:lnTo>
                <a:lnTo>
                  <a:pt x="3449513" y="1782101"/>
                </a:lnTo>
                <a:lnTo>
                  <a:pt x="0" y="17821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7464127" y="5320113"/>
            <a:ext cx="1457028" cy="1457028"/>
          </a:xfrm>
          <a:custGeom>
            <a:avLst/>
            <a:gdLst/>
            <a:ahLst/>
            <a:cxnLst/>
            <a:rect r="r" b="b" t="t" l="l"/>
            <a:pathLst>
              <a:path h="1457028" w="1457028">
                <a:moveTo>
                  <a:pt x="0" y="0"/>
                </a:moveTo>
                <a:lnTo>
                  <a:pt x="1457028" y="0"/>
                </a:lnTo>
                <a:lnTo>
                  <a:pt x="1457028" y="1457028"/>
                </a:lnTo>
                <a:lnTo>
                  <a:pt x="0" y="145702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7160682" y="2836945"/>
            <a:ext cx="4166762" cy="1072941"/>
          </a:xfrm>
          <a:custGeom>
            <a:avLst/>
            <a:gdLst/>
            <a:ahLst/>
            <a:cxnLst/>
            <a:rect r="r" b="b" t="t" l="l"/>
            <a:pathLst>
              <a:path h="1072941" w="4166762">
                <a:moveTo>
                  <a:pt x="0" y="0"/>
                </a:moveTo>
                <a:lnTo>
                  <a:pt x="4166762" y="0"/>
                </a:lnTo>
                <a:lnTo>
                  <a:pt x="4166762" y="1072941"/>
                </a:lnTo>
                <a:lnTo>
                  <a:pt x="0" y="1072941"/>
                </a:lnTo>
                <a:lnTo>
                  <a:pt x="0" y="0"/>
                </a:lnTo>
                <a:close/>
              </a:path>
            </a:pathLst>
          </a:custGeom>
          <a:blipFill>
            <a:blip r:embed="rId10"/>
            <a:stretch>
              <a:fillRect l="0" t="0" r="0" b="0"/>
            </a:stretch>
          </a:blipFill>
        </p:spPr>
      </p:sp>
      <p:sp>
        <p:nvSpPr>
          <p:cNvPr name="Freeform 18" id="18"/>
          <p:cNvSpPr/>
          <p:nvPr/>
        </p:nvSpPr>
        <p:spPr>
          <a:xfrm flipH="false" flipV="false" rot="0">
            <a:off x="7464127" y="7516193"/>
            <a:ext cx="4368810" cy="1044158"/>
          </a:xfrm>
          <a:custGeom>
            <a:avLst/>
            <a:gdLst/>
            <a:ahLst/>
            <a:cxnLst/>
            <a:rect r="r" b="b" t="t" l="l"/>
            <a:pathLst>
              <a:path h="1044158" w="4368810">
                <a:moveTo>
                  <a:pt x="0" y="0"/>
                </a:moveTo>
                <a:lnTo>
                  <a:pt x="4368810" y="0"/>
                </a:lnTo>
                <a:lnTo>
                  <a:pt x="4368810" y="1044158"/>
                </a:lnTo>
                <a:lnTo>
                  <a:pt x="0" y="1044158"/>
                </a:lnTo>
                <a:lnTo>
                  <a:pt x="0" y="0"/>
                </a:lnTo>
                <a:close/>
              </a:path>
            </a:pathLst>
          </a:custGeom>
          <a:blipFill>
            <a:blip r:embed="rId11"/>
            <a:stretch>
              <a:fillRect l="0" t="0" r="0" b="0"/>
            </a:stretch>
          </a:blipFill>
        </p:spPr>
      </p:sp>
      <p:sp>
        <p:nvSpPr>
          <p:cNvPr name="Freeform 19" id="19"/>
          <p:cNvSpPr/>
          <p:nvPr/>
        </p:nvSpPr>
        <p:spPr>
          <a:xfrm flipH="false" flipV="false" rot="0">
            <a:off x="9675659" y="5536446"/>
            <a:ext cx="1773471" cy="1064082"/>
          </a:xfrm>
          <a:custGeom>
            <a:avLst/>
            <a:gdLst/>
            <a:ahLst/>
            <a:cxnLst/>
            <a:rect r="r" b="b" t="t" l="l"/>
            <a:pathLst>
              <a:path h="1064082" w="1773471">
                <a:moveTo>
                  <a:pt x="0" y="0"/>
                </a:moveTo>
                <a:lnTo>
                  <a:pt x="1773471" y="0"/>
                </a:lnTo>
                <a:lnTo>
                  <a:pt x="1773471" y="1064082"/>
                </a:lnTo>
                <a:lnTo>
                  <a:pt x="0" y="1064082"/>
                </a:lnTo>
                <a:lnTo>
                  <a:pt x="0" y="0"/>
                </a:lnTo>
                <a:close/>
              </a:path>
            </a:pathLst>
          </a:custGeom>
          <a:blipFill>
            <a:blip r:embed="rId12"/>
            <a:stretch>
              <a:fillRect l="0" t="0" r="0" b="0"/>
            </a:stretch>
          </a:blipFill>
        </p:spPr>
      </p:sp>
      <p:sp>
        <p:nvSpPr>
          <p:cNvPr name="Freeform 20" id="20"/>
          <p:cNvSpPr/>
          <p:nvPr/>
        </p:nvSpPr>
        <p:spPr>
          <a:xfrm flipH="false" flipV="false" rot="0">
            <a:off x="14475740" y="2578530"/>
            <a:ext cx="1591571" cy="1591571"/>
          </a:xfrm>
          <a:custGeom>
            <a:avLst/>
            <a:gdLst/>
            <a:ahLst/>
            <a:cxnLst/>
            <a:rect r="r" b="b" t="t" l="l"/>
            <a:pathLst>
              <a:path h="1591571" w="1591571">
                <a:moveTo>
                  <a:pt x="0" y="0"/>
                </a:moveTo>
                <a:lnTo>
                  <a:pt x="1591571" y="0"/>
                </a:lnTo>
                <a:lnTo>
                  <a:pt x="1591571" y="1591571"/>
                </a:lnTo>
                <a:lnTo>
                  <a:pt x="0" y="159157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1" id="21"/>
          <p:cNvSpPr/>
          <p:nvPr/>
        </p:nvSpPr>
        <p:spPr>
          <a:xfrm flipH="false" flipV="false" rot="0">
            <a:off x="1192671" y="5143500"/>
            <a:ext cx="1661314" cy="1661314"/>
          </a:xfrm>
          <a:custGeom>
            <a:avLst/>
            <a:gdLst/>
            <a:ahLst/>
            <a:cxnLst/>
            <a:rect r="r" b="b" t="t" l="l"/>
            <a:pathLst>
              <a:path h="1661314" w="1661314">
                <a:moveTo>
                  <a:pt x="0" y="0"/>
                </a:moveTo>
                <a:lnTo>
                  <a:pt x="1661314" y="0"/>
                </a:lnTo>
                <a:lnTo>
                  <a:pt x="1661314" y="1661314"/>
                </a:lnTo>
                <a:lnTo>
                  <a:pt x="0" y="166131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22" id="22"/>
          <p:cNvSpPr/>
          <p:nvPr/>
        </p:nvSpPr>
        <p:spPr>
          <a:xfrm flipH="false" flipV="false" rot="0">
            <a:off x="4691328" y="5091534"/>
            <a:ext cx="1914188" cy="1914188"/>
          </a:xfrm>
          <a:custGeom>
            <a:avLst/>
            <a:gdLst/>
            <a:ahLst/>
            <a:cxnLst/>
            <a:rect r="r" b="b" t="t" l="l"/>
            <a:pathLst>
              <a:path h="1914188" w="1914188">
                <a:moveTo>
                  <a:pt x="0" y="0"/>
                </a:moveTo>
                <a:lnTo>
                  <a:pt x="1914187" y="0"/>
                </a:lnTo>
                <a:lnTo>
                  <a:pt x="1914187" y="1914187"/>
                </a:lnTo>
                <a:lnTo>
                  <a:pt x="0" y="1914187"/>
                </a:lnTo>
                <a:lnTo>
                  <a:pt x="0" y="0"/>
                </a:lnTo>
                <a:close/>
              </a:path>
            </a:pathLst>
          </a:custGeom>
          <a:blipFill>
            <a:blip r:embed="rId17"/>
            <a:stretch>
              <a:fillRect l="0" t="0" r="0" b="0"/>
            </a:stretch>
          </a:blipFill>
        </p:spPr>
      </p:sp>
      <p:sp>
        <p:nvSpPr>
          <p:cNvPr name="Freeform 23" id="23"/>
          <p:cNvSpPr/>
          <p:nvPr/>
        </p:nvSpPr>
        <p:spPr>
          <a:xfrm flipH="false" flipV="false" rot="0">
            <a:off x="11590011" y="2812910"/>
            <a:ext cx="1121011" cy="1121011"/>
          </a:xfrm>
          <a:custGeom>
            <a:avLst/>
            <a:gdLst/>
            <a:ahLst/>
            <a:cxnLst/>
            <a:rect r="r" b="b" t="t" l="l"/>
            <a:pathLst>
              <a:path h="1121011" w="1121011">
                <a:moveTo>
                  <a:pt x="0" y="0"/>
                </a:moveTo>
                <a:lnTo>
                  <a:pt x="1121011" y="0"/>
                </a:lnTo>
                <a:lnTo>
                  <a:pt x="1121011" y="1121011"/>
                </a:lnTo>
                <a:lnTo>
                  <a:pt x="0" y="1121011"/>
                </a:lnTo>
                <a:lnTo>
                  <a:pt x="0" y="0"/>
                </a:lnTo>
                <a:close/>
              </a:path>
            </a:pathLst>
          </a:custGeom>
          <a:blipFill>
            <a:blip r:embed="rId18"/>
            <a:stretch>
              <a:fillRect l="0" t="0" r="0" b="0"/>
            </a:stretch>
          </a:blipFill>
        </p:spPr>
      </p:sp>
      <p:sp>
        <p:nvSpPr>
          <p:cNvPr name="Freeform 24" id="24"/>
          <p:cNvSpPr/>
          <p:nvPr/>
        </p:nvSpPr>
        <p:spPr>
          <a:xfrm flipH="false" flipV="false" rot="0">
            <a:off x="1512570" y="7855298"/>
            <a:ext cx="4807183" cy="705053"/>
          </a:xfrm>
          <a:custGeom>
            <a:avLst/>
            <a:gdLst/>
            <a:ahLst/>
            <a:cxnLst/>
            <a:rect r="r" b="b" t="t" l="l"/>
            <a:pathLst>
              <a:path h="705053" w="4807183">
                <a:moveTo>
                  <a:pt x="0" y="0"/>
                </a:moveTo>
                <a:lnTo>
                  <a:pt x="4807183" y="0"/>
                </a:lnTo>
                <a:lnTo>
                  <a:pt x="4807183" y="705053"/>
                </a:lnTo>
                <a:lnTo>
                  <a:pt x="0" y="705053"/>
                </a:lnTo>
                <a:lnTo>
                  <a:pt x="0" y="0"/>
                </a:lnTo>
                <a:close/>
              </a:path>
            </a:pathLst>
          </a:custGeom>
          <a:blipFill>
            <a:blip r:embed="rId19"/>
            <a:stretch>
              <a:fillRect l="0" t="0" r="0" b="0"/>
            </a:stretch>
          </a:blipFill>
        </p:spPr>
      </p:sp>
      <p:sp>
        <p:nvSpPr>
          <p:cNvPr name="Freeform 25" id="25"/>
          <p:cNvSpPr/>
          <p:nvPr/>
        </p:nvSpPr>
        <p:spPr>
          <a:xfrm flipH="false" flipV="false" rot="0">
            <a:off x="13438752" y="7520253"/>
            <a:ext cx="3665546" cy="1040099"/>
          </a:xfrm>
          <a:custGeom>
            <a:avLst/>
            <a:gdLst/>
            <a:ahLst/>
            <a:cxnLst/>
            <a:rect r="r" b="b" t="t" l="l"/>
            <a:pathLst>
              <a:path h="1040099" w="3665546">
                <a:moveTo>
                  <a:pt x="0" y="0"/>
                </a:moveTo>
                <a:lnTo>
                  <a:pt x="3665547" y="0"/>
                </a:lnTo>
                <a:lnTo>
                  <a:pt x="3665547" y="1040098"/>
                </a:lnTo>
                <a:lnTo>
                  <a:pt x="0" y="1040098"/>
                </a:lnTo>
                <a:lnTo>
                  <a:pt x="0" y="0"/>
                </a:lnTo>
                <a:close/>
              </a:path>
            </a:pathLst>
          </a:custGeom>
          <a:blipFill>
            <a:blip r:embed="rId20"/>
            <a:stretch>
              <a:fillRect l="0" t="0" r="0" b="0"/>
            </a:stretch>
          </a:blipFill>
        </p:spPr>
      </p:sp>
      <p:sp>
        <p:nvSpPr>
          <p:cNvPr name="TextBox 26" id="26"/>
          <p:cNvSpPr txBox="true"/>
          <p:nvPr/>
        </p:nvSpPr>
        <p:spPr>
          <a:xfrm rot="0">
            <a:off x="6886740" y="444062"/>
            <a:ext cx="5577840"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Tecnologías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sp>
        <p:nvSpPr>
          <p:cNvPr name="Freeform 2" id="2"/>
          <p:cNvSpPr/>
          <p:nvPr/>
        </p:nvSpPr>
        <p:spPr>
          <a:xfrm flipH="false" flipV="false" rot="0">
            <a:off x="315834" y="438823"/>
            <a:ext cx="17656333" cy="9409354"/>
          </a:xfrm>
          <a:custGeom>
            <a:avLst/>
            <a:gdLst/>
            <a:ahLst/>
            <a:cxnLst/>
            <a:rect r="r" b="b" t="t" l="l"/>
            <a:pathLst>
              <a:path h="9409354" w="17656333">
                <a:moveTo>
                  <a:pt x="0" y="0"/>
                </a:moveTo>
                <a:lnTo>
                  <a:pt x="17656332" y="0"/>
                </a:lnTo>
                <a:lnTo>
                  <a:pt x="17656332" y="9409354"/>
                </a:lnTo>
                <a:lnTo>
                  <a:pt x="0" y="9409354"/>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1131715" y="607617"/>
            <a:ext cx="16127585" cy="9071767"/>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2224294"/>
            <a:ext cx="16627649" cy="7616185"/>
            <a:chOff x="0" y="0"/>
            <a:chExt cx="4379298" cy="2005909"/>
          </a:xfrm>
        </p:grpSpPr>
        <p:sp>
          <p:nvSpPr>
            <p:cNvPr name="Freeform 3" id="3"/>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4" id="4"/>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331153"/>
            <a:ext cx="16627649" cy="3086100"/>
            <a:chOff x="0" y="0"/>
            <a:chExt cx="4379298" cy="812800"/>
          </a:xfrm>
        </p:grpSpPr>
        <p:sp>
          <p:nvSpPr>
            <p:cNvPr name="Freeform 6" id="6"/>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7" id="7"/>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041814"/>
            <a:ext cx="16627649" cy="7611871"/>
            <a:chOff x="0" y="0"/>
            <a:chExt cx="4379298" cy="2004773"/>
          </a:xfrm>
        </p:grpSpPr>
        <p:sp>
          <p:nvSpPr>
            <p:cNvPr name="Freeform 9" id="9"/>
            <p:cNvSpPr/>
            <p:nvPr/>
          </p:nvSpPr>
          <p:spPr>
            <a:xfrm flipH="false" flipV="false" rot="0">
              <a:off x="0" y="0"/>
              <a:ext cx="4379299" cy="2004773"/>
            </a:xfrm>
            <a:custGeom>
              <a:avLst/>
              <a:gdLst/>
              <a:ahLst/>
              <a:cxnLst/>
              <a:rect r="r" b="b" t="t" l="l"/>
              <a:pathLst>
                <a:path h="2004773" w="4379299">
                  <a:moveTo>
                    <a:pt x="23746" y="0"/>
                  </a:moveTo>
                  <a:lnTo>
                    <a:pt x="4355553" y="0"/>
                  </a:lnTo>
                  <a:cubicBezTo>
                    <a:pt x="4368667" y="0"/>
                    <a:pt x="4379299" y="10631"/>
                    <a:pt x="4379299" y="23746"/>
                  </a:cubicBezTo>
                  <a:lnTo>
                    <a:pt x="4379299" y="1981027"/>
                  </a:lnTo>
                  <a:cubicBezTo>
                    <a:pt x="4379299" y="1994141"/>
                    <a:pt x="4368667" y="2004773"/>
                    <a:pt x="4355553" y="2004773"/>
                  </a:cubicBezTo>
                  <a:lnTo>
                    <a:pt x="23746" y="2004773"/>
                  </a:lnTo>
                  <a:cubicBezTo>
                    <a:pt x="10631" y="2004773"/>
                    <a:pt x="0" y="1994141"/>
                    <a:pt x="0" y="1981027"/>
                  </a:cubicBezTo>
                  <a:lnTo>
                    <a:pt x="0" y="23746"/>
                  </a:lnTo>
                  <a:cubicBezTo>
                    <a:pt x="0" y="10631"/>
                    <a:pt x="10631" y="0"/>
                    <a:pt x="23746" y="0"/>
                  </a:cubicBezTo>
                  <a:close/>
                </a:path>
              </a:pathLst>
            </a:custGeom>
            <a:solidFill>
              <a:srgbClr val="FFFFFF"/>
            </a:solidFill>
            <a:ln cap="rnd">
              <a:noFill/>
              <a:prstDash val="solid"/>
              <a:round/>
            </a:ln>
          </p:spPr>
        </p:sp>
        <p:sp>
          <p:nvSpPr>
            <p:cNvPr name="TextBox 10" id="10"/>
            <p:cNvSpPr txBox="true"/>
            <p:nvPr/>
          </p:nvSpPr>
          <p:spPr>
            <a:xfrm>
              <a:off x="0" y="-38100"/>
              <a:ext cx="4379298" cy="20428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710008" y="2747555"/>
            <a:ext cx="14867984" cy="6200389"/>
          </a:xfrm>
          <a:custGeom>
            <a:avLst/>
            <a:gdLst/>
            <a:ahLst/>
            <a:cxnLst/>
            <a:rect r="r" b="b" t="t" l="l"/>
            <a:pathLst>
              <a:path h="6200389" w="14867984">
                <a:moveTo>
                  <a:pt x="0" y="0"/>
                </a:moveTo>
                <a:lnTo>
                  <a:pt x="14867984" y="0"/>
                </a:lnTo>
                <a:lnTo>
                  <a:pt x="14867984" y="6200389"/>
                </a:lnTo>
                <a:lnTo>
                  <a:pt x="0" y="6200389"/>
                </a:lnTo>
                <a:lnTo>
                  <a:pt x="0" y="0"/>
                </a:lnTo>
                <a:close/>
              </a:path>
            </a:pathLst>
          </a:custGeom>
          <a:blipFill>
            <a:blip r:embed="rId2"/>
            <a:stretch>
              <a:fillRect l="0" t="-45019" r="0" b="-56092"/>
            </a:stretch>
          </a:blipFill>
        </p:spPr>
      </p:sp>
      <p:sp>
        <p:nvSpPr>
          <p:cNvPr name="TextBox 12" id="12"/>
          <p:cNvSpPr txBox="true"/>
          <p:nvPr/>
        </p:nvSpPr>
        <p:spPr>
          <a:xfrm rot="0">
            <a:off x="8557188" y="304800"/>
            <a:ext cx="1570672"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API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2224294"/>
            <a:ext cx="16627649" cy="7616185"/>
            <a:chOff x="0" y="0"/>
            <a:chExt cx="4379298" cy="2005909"/>
          </a:xfrm>
        </p:grpSpPr>
        <p:sp>
          <p:nvSpPr>
            <p:cNvPr name="Freeform 3" id="3"/>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4" id="4"/>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331153"/>
            <a:ext cx="16627649" cy="3086100"/>
            <a:chOff x="0" y="0"/>
            <a:chExt cx="4379298" cy="812800"/>
          </a:xfrm>
        </p:grpSpPr>
        <p:sp>
          <p:nvSpPr>
            <p:cNvPr name="Freeform 6" id="6"/>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7" id="7"/>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059257" y="429491"/>
            <a:ext cx="6566535"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Base de datos</a:t>
            </a:r>
          </a:p>
        </p:txBody>
      </p:sp>
      <p:grpSp>
        <p:nvGrpSpPr>
          <p:cNvPr name="Group 9" id="9"/>
          <p:cNvGrpSpPr/>
          <p:nvPr/>
        </p:nvGrpSpPr>
        <p:grpSpPr>
          <a:xfrm rot="0">
            <a:off x="1028700" y="2041814"/>
            <a:ext cx="16627649" cy="7611871"/>
            <a:chOff x="0" y="0"/>
            <a:chExt cx="4379298" cy="2004773"/>
          </a:xfrm>
        </p:grpSpPr>
        <p:sp>
          <p:nvSpPr>
            <p:cNvPr name="Freeform 10" id="10"/>
            <p:cNvSpPr/>
            <p:nvPr/>
          </p:nvSpPr>
          <p:spPr>
            <a:xfrm flipH="false" flipV="false" rot="0">
              <a:off x="0" y="0"/>
              <a:ext cx="4379299" cy="2004773"/>
            </a:xfrm>
            <a:custGeom>
              <a:avLst/>
              <a:gdLst/>
              <a:ahLst/>
              <a:cxnLst/>
              <a:rect r="r" b="b" t="t" l="l"/>
              <a:pathLst>
                <a:path h="2004773" w="4379299">
                  <a:moveTo>
                    <a:pt x="23746" y="0"/>
                  </a:moveTo>
                  <a:lnTo>
                    <a:pt x="4355553" y="0"/>
                  </a:lnTo>
                  <a:cubicBezTo>
                    <a:pt x="4368667" y="0"/>
                    <a:pt x="4379299" y="10631"/>
                    <a:pt x="4379299" y="23746"/>
                  </a:cubicBezTo>
                  <a:lnTo>
                    <a:pt x="4379299" y="1981027"/>
                  </a:lnTo>
                  <a:cubicBezTo>
                    <a:pt x="4379299" y="1994141"/>
                    <a:pt x="4368667" y="2004773"/>
                    <a:pt x="4355553" y="2004773"/>
                  </a:cubicBezTo>
                  <a:lnTo>
                    <a:pt x="23746" y="2004773"/>
                  </a:lnTo>
                  <a:cubicBezTo>
                    <a:pt x="10631" y="2004773"/>
                    <a:pt x="0" y="1994141"/>
                    <a:pt x="0" y="1981027"/>
                  </a:cubicBezTo>
                  <a:lnTo>
                    <a:pt x="0" y="23746"/>
                  </a:lnTo>
                  <a:cubicBezTo>
                    <a:pt x="0" y="10631"/>
                    <a:pt x="10631" y="0"/>
                    <a:pt x="23746" y="0"/>
                  </a:cubicBezTo>
                  <a:close/>
                </a:path>
              </a:pathLst>
            </a:custGeom>
            <a:solidFill>
              <a:srgbClr val="FFFFFF"/>
            </a:solidFill>
            <a:ln cap="rnd">
              <a:noFill/>
              <a:prstDash val="solid"/>
              <a:round/>
            </a:ln>
          </p:spPr>
        </p:sp>
        <p:sp>
          <p:nvSpPr>
            <p:cNvPr name="TextBox 11" id="11"/>
            <p:cNvSpPr txBox="true"/>
            <p:nvPr/>
          </p:nvSpPr>
          <p:spPr>
            <a:xfrm>
              <a:off x="0" y="-38100"/>
              <a:ext cx="4379298" cy="20428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2" id="12"/>
          <p:cNvSpPr/>
          <p:nvPr/>
        </p:nvSpPr>
        <p:spPr>
          <a:xfrm flipH="false" flipV="false" rot="0">
            <a:off x="4706589" y="2118538"/>
            <a:ext cx="9271872" cy="7535147"/>
          </a:xfrm>
          <a:custGeom>
            <a:avLst/>
            <a:gdLst/>
            <a:ahLst/>
            <a:cxnLst/>
            <a:rect r="r" b="b" t="t" l="l"/>
            <a:pathLst>
              <a:path h="7535147" w="9271872">
                <a:moveTo>
                  <a:pt x="0" y="0"/>
                </a:moveTo>
                <a:lnTo>
                  <a:pt x="9271871" y="0"/>
                </a:lnTo>
                <a:lnTo>
                  <a:pt x="9271871" y="7535146"/>
                </a:lnTo>
                <a:lnTo>
                  <a:pt x="0" y="7535146"/>
                </a:lnTo>
                <a:lnTo>
                  <a:pt x="0" y="0"/>
                </a:lnTo>
                <a:close/>
              </a:path>
            </a:pathLst>
          </a:custGeom>
          <a:blipFill>
            <a:blip r:embed="rId2"/>
            <a:stretch>
              <a:fillRect l="0" t="0" r="0" b="0"/>
            </a:stretch>
          </a:blipFill>
        </p:spPr>
      </p:sp>
      <p:sp>
        <p:nvSpPr>
          <p:cNvPr name="Freeform 13" id="13"/>
          <p:cNvSpPr/>
          <p:nvPr/>
        </p:nvSpPr>
        <p:spPr>
          <a:xfrm flipH="false" flipV="false" rot="0">
            <a:off x="13453251" y="2413258"/>
            <a:ext cx="3449513" cy="1782101"/>
          </a:xfrm>
          <a:custGeom>
            <a:avLst/>
            <a:gdLst/>
            <a:ahLst/>
            <a:cxnLst/>
            <a:rect r="r" b="b" t="t" l="l"/>
            <a:pathLst>
              <a:path h="1782101" w="3449513">
                <a:moveTo>
                  <a:pt x="0" y="0"/>
                </a:moveTo>
                <a:lnTo>
                  <a:pt x="3449513" y="0"/>
                </a:lnTo>
                <a:lnTo>
                  <a:pt x="3449513" y="1782102"/>
                </a:lnTo>
                <a:lnTo>
                  <a:pt x="0" y="17821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2224294"/>
            <a:ext cx="16627649" cy="7616185"/>
            <a:chOff x="0" y="0"/>
            <a:chExt cx="4379298" cy="2005909"/>
          </a:xfrm>
        </p:grpSpPr>
        <p:sp>
          <p:nvSpPr>
            <p:cNvPr name="Freeform 3" id="3"/>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4" id="4"/>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331153"/>
            <a:ext cx="16627649" cy="3086100"/>
            <a:chOff x="0" y="0"/>
            <a:chExt cx="4379298" cy="812800"/>
          </a:xfrm>
        </p:grpSpPr>
        <p:sp>
          <p:nvSpPr>
            <p:cNvPr name="Freeform 6" id="6"/>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7" id="7"/>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5386236" y="304800"/>
            <a:ext cx="7912576"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App GymTracker</a:t>
            </a:r>
          </a:p>
        </p:txBody>
      </p:sp>
      <p:grpSp>
        <p:nvGrpSpPr>
          <p:cNvPr name="Group 9" id="9"/>
          <p:cNvGrpSpPr/>
          <p:nvPr/>
        </p:nvGrpSpPr>
        <p:grpSpPr>
          <a:xfrm rot="0">
            <a:off x="1028700" y="2041814"/>
            <a:ext cx="16627649" cy="7611871"/>
            <a:chOff x="0" y="0"/>
            <a:chExt cx="4379298" cy="2004773"/>
          </a:xfrm>
        </p:grpSpPr>
        <p:sp>
          <p:nvSpPr>
            <p:cNvPr name="Freeform 10" id="10"/>
            <p:cNvSpPr/>
            <p:nvPr/>
          </p:nvSpPr>
          <p:spPr>
            <a:xfrm flipH="false" flipV="false" rot="0">
              <a:off x="0" y="0"/>
              <a:ext cx="4379299" cy="2004773"/>
            </a:xfrm>
            <a:custGeom>
              <a:avLst/>
              <a:gdLst/>
              <a:ahLst/>
              <a:cxnLst/>
              <a:rect r="r" b="b" t="t" l="l"/>
              <a:pathLst>
                <a:path h="2004773" w="4379299">
                  <a:moveTo>
                    <a:pt x="23746" y="0"/>
                  </a:moveTo>
                  <a:lnTo>
                    <a:pt x="4355553" y="0"/>
                  </a:lnTo>
                  <a:cubicBezTo>
                    <a:pt x="4368667" y="0"/>
                    <a:pt x="4379299" y="10631"/>
                    <a:pt x="4379299" y="23746"/>
                  </a:cubicBezTo>
                  <a:lnTo>
                    <a:pt x="4379299" y="1981027"/>
                  </a:lnTo>
                  <a:cubicBezTo>
                    <a:pt x="4379299" y="1994141"/>
                    <a:pt x="4368667" y="2004773"/>
                    <a:pt x="4355553" y="2004773"/>
                  </a:cubicBezTo>
                  <a:lnTo>
                    <a:pt x="23746" y="2004773"/>
                  </a:lnTo>
                  <a:cubicBezTo>
                    <a:pt x="10631" y="2004773"/>
                    <a:pt x="0" y="1994141"/>
                    <a:pt x="0" y="1981027"/>
                  </a:cubicBezTo>
                  <a:lnTo>
                    <a:pt x="0" y="23746"/>
                  </a:lnTo>
                  <a:cubicBezTo>
                    <a:pt x="0" y="10631"/>
                    <a:pt x="10631" y="0"/>
                    <a:pt x="23746" y="0"/>
                  </a:cubicBezTo>
                  <a:close/>
                </a:path>
              </a:pathLst>
            </a:custGeom>
            <a:solidFill>
              <a:srgbClr val="FFFFFF"/>
            </a:solidFill>
            <a:ln cap="rnd">
              <a:noFill/>
              <a:prstDash val="solid"/>
              <a:round/>
            </a:ln>
          </p:spPr>
        </p:sp>
        <p:sp>
          <p:nvSpPr>
            <p:cNvPr name="TextBox 11" id="11"/>
            <p:cNvSpPr txBox="true"/>
            <p:nvPr/>
          </p:nvSpPr>
          <p:spPr>
            <a:xfrm>
              <a:off x="0" y="-38100"/>
              <a:ext cx="4379298" cy="204287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13232738" y="2263359"/>
            <a:ext cx="3573992" cy="7168780"/>
            <a:chOff x="0" y="0"/>
            <a:chExt cx="4765323" cy="9558374"/>
          </a:xfrm>
        </p:grpSpPr>
        <p:sp>
          <p:nvSpPr>
            <p:cNvPr name="Freeform 13" id="13"/>
            <p:cNvSpPr/>
            <p:nvPr/>
          </p:nvSpPr>
          <p:spPr>
            <a:xfrm flipH="false" flipV="false" rot="0">
              <a:off x="0" y="0"/>
              <a:ext cx="4765323" cy="9558375"/>
            </a:xfrm>
            <a:custGeom>
              <a:avLst/>
              <a:gdLst/>
              <a:ahLst/>
              <a:cxnLst/>
              <a:rect r="r" b="b" t="t" l="l"/>
              <a:pathLst>
                <a:path h="9558375" w="4765323">
                  <a:moveTo>
                    <a:pt x="0" y="0"/>
                  </a:moveTo>
                  <a:lnTo>
                    <a:pt x="4765323" y="0"/>
                  </a:lnTo>
                  <a:lnTo>
                    <a:pt x="4765323" y="9558375"/>
                  </a:lnTo>
                  <a:lnTo>
                    <a:pt x="0" y="9558375"/>
                  </a:lnTo>
                  <a:lnTo>
                    <a:pt x="0" y="0"/>
                  </a:lnTo>
                  <a:close/>
                </a:path>
              </a:pathLst>
            </a:custGeom>
            <a:blipFill>
              <a:blip r:embed="rId2"/>
              <a:stretch>
                <a:fillRect l="0" t="0" r="0" b="0"/>
              </a:stretch>
            </a:blipFill>
          </p:spPr>
        </p:sp>
      </p:grpSp>
      <p:grpSp>
        <p:nvGrpSpPr>
          <p:cNvPr name="Group 14" id="14"/>
          <p:cNvGrpSpPr/>
          <p:nvPr/>
        </p:nvGrpSpPr>
        <p:grpSpPr>
          <a:xfrm rot="0">
            <a:off x="2244338" y="3797757"/>
            <a:ext cx="9462130" cy="5634383"/>
            <a:chOff x="0" y="0"/>
            <a:chExt cx="12616173" cy="7512510"/>
          </a:xfrm>
        </p:grpSpPr>
        <p:sp>
          <p:nvSpPr>
            <p:cNvPr name="Freeform 15" id="15"/>
            <p:cNvSpPr/>
            <p:nvPr/>
          </p:nvSpPr>
          <p:spPr>
            <a:xfrm flipH="false" flipV="false" rot="0">
              <a:off x="0" y="0"/>
              <a:ext cx="12616173" cy="7512510"/>
            </a:xfrm>
            <a:custGeom>
              <a:avLst/>
              <a:gdLst/>
              <a:ahLst/>
              <a:cxnLst/>
              <a:rect r="r" b="b" t="t" l="l"/>
              <a:pathLst>
                <a:path h="7512510" w="12616173">
                  <a:moveTo>
                    <a:pt x="0" y="0"/>
                  </a:moveTo>
                  <a:lnTo>
                    <a:pt x="12616173" y="0"/>
                  </a:lnTo>
                  <a:lnTo>
                    <a:pt x="12616173" y="7512510"/>
                  </a:lnTo>
                  <a:lnTo>
                    <a:pt x="0" y="7512510"/>
                  </a:lnTo>
                  <a:lnTo>
                    <a:pt x="0" y="0"/>
                  </a:lnTo>
                  <a:close/>
                </a:path>
              </a:pathLst>
            </a:custGeom>
            <a:blipFill>
              <a:blip r:embed="rId3"/>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2224294"/>
            <a:ext cx="16627649" cy="7616185"/>
            <a:chOff x="0" y="0"/>
            <a:chExt cx="4379298" cy="2005909"/>
          </a:xfrm>
        </p:grpSpPr>
        <p:sp>
          <p:nvSpPr>
            <p:cNvPr name="Freeform 3" id="3"/>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4" id="4"/>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331153"/>
            <a:ext cx="16627649" cy="3086100"/>
            <a:chOff x="0" y="0"/>
            <a:chExt cx="4379298" cy="812800"/>
          </a:xfrm>
        </p:grpSpPr>
        <p:sp>
          <p:nvSpPr>
            <p:cNvPr name="Freeform 6" id="6"/>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7" id="7"/>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041814"/>
            <a:ext cx="16627649" cy="7611871"/>
            <a:chOff x="0" y="0"/>
            <a:chExt cx="4379298" cy="2004773"/>
          </a:xfrm>
        </p:grpSpPr>
        <p:sp>
          <p:nvSpPr>
            <p:cNvPr name="Freeform 9" id="9"/>
            <p:cNvSpPr/>
            <p:nvPr/>
          </p:nvSpPr>
          <p:spPr>
            <a:xfrm flipH="false" flipV="false" rot="0">
              <a:off x="0" y="0"/>
              <a:ext cx="4379299" cy="2004773"/>
            </a:xfrm>
            <a:custGeom>
              <a:avLst/>
              <a:gdLst/>
              <a:ahLst/>
              <a:cxnLst/>
              <a:rect r="r" b="b" t="t" l="l"/>
              <a:pathLst>
                <a:path h="2004773" w="4379299">
                  <a:moveTo>
                    <a:pt x="23746" y="0"/>
                  </a:moveTo>
                  <a:lnTo>
                    <a:pt x="4355553" y="0"/>
                  </a:lnTo>
                  <a:cubicBezTo>
                    <a:pt x="4368667" y="0"/>
                    <a:pt x="4379299" y="10631"/>
                    <a:pt x="4379299" y="23746"/>
                  </a:cubicBezTo>
                  <a:lnTo>
                    <a:pt x="4379299" y="1981027"/>
                  </a:lnTo>
                  <a:cubicBezTo>
                    <a:pt x="4379299" y="1994141"/>
                    <a:pt x="4368667" y="2004773"/>
                    <a:pt x="4355553" y="2004773"/>
                  </a:cubicBezTo>
                  <a:lnTo>
                    <a:pt x="23746" y="2004773"/>
                  </a:lnTo>
                  <a:cubicBezTo>
                    <a:pt x="10631" y="2004773"/>
                    <a:pt x="0" y="1994141"/>
                    <a:pt x="0" y="1981027"/>
                  </a:cubicBezTo>
                  <a:lnTo>
                    <a:pt x="0" y="23746"/>
                  </a:lnTo>
                  <a:cubicBezTo>
                    <a:pt x="0" y="10631"/>
                    <a:pt x="10631" y="0"/>
                    <a:pt x="23746" y="0"/>
                  </a:cubicBezTo>
                  <a:close/>
                </a:path>
              </a:pathLst>
            </a:custGeom>
            <a:solidFill>
              <a:srgbClr val="FFFFFF"/>
            </a:solidFill>
            <a:ln cap="rnd">
              <a:noFill/>
              <a:prstDash val="solid"/>
              <a:round/>
            </a:ln>
          </p:spPr>
        </p:sp>
        <p:sp>
          <p:nvSpPr>
            <p:cNvPr name="TextBox 10" id="10"/>
            <p:cNvSpPr txBox="true"/>
            <p:nvPr/>
          </p:nvSpPr>
          <p:spPr>
            <a:xfrm>
              <a:off x="0" y="-38100"/>
              <a:ext cx="4379298" cy="20428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9680987" y="482495"/>
            <a:ext cx="4406993" cy="1322098"/>
          </a:xfrm>
          <a:custGeom>
            <a:avLst/>
            <a:gdLst/>
            <a:ahLst/>
            <a:cxnLst/>
            <a:rect r="r" b="b" t="t" l="l"/>
            <a:pathLst>
              <a:path h="1322098" w="4406993">
                <a:moveTo>
                  <a:pt x="0" y="0"/>
                </a:moveTo>
                <a:lnTo>
                  <a:pt x="4406993" y="0"/>
                </a:lnTo>
                <a:lnTo>
                  <a:pt x="4406993" y="1322098"/>
                </a:lnTo>
                <a:lnTo>
                  <a:pt x="0" y="1322098"/>
                </a:lnTo>
                <a:lnTo>
                  <a:pt x="0" y="0"/>
                </a:lnTo>
                <a:close/>
              </a:path>
            </a:pathLst>
          </a:custGeom>
          <a:blipFill>
            <a:blip r:embed="rId2"/>
            <a:stretch>
              <a:fillRect l="0" t="0" r="0" b="0"/>
            </a:stretch>
          </a:blipFill>
        </p:spPr>
      </p:sp>
      <p:sp>
        <p:nvSpPr>
          <p:cNvPr name="Freeform 12" id="12"/>
          <p:cNvSpPr/>
          <p:nvPr/>
        </p:nvSpPr>
        <p:spPr>
          <a:xfrm flipH="false" flipV="false" rot="0">
            <a:off x="3331255" y="2270348"/>
            <a:ext cx="12022540" cy="7154802"/>
          </a:xfrm>
          <a:custGeom>
            <a:avLst/>
            <a:gdLst/>
            <a:ahLst/>
            <a:cxnLst/>
            <a:rect r="r" b="b" t="t" l="l"/>
            <a:pathLst>
              <a:path h="7154802" w="12022540">
                <a:moveTo>
                  <a:pt x="0" y="0"/>
                </a:moveTo>
                <a:lnTo>
                  <a:pt x="12022539" y="0"/>
                </a:lnTo>
                <a:lnTo>
                  <a:pt x="12022539" y="7154802"/>
                </a:lnTo>
                <a:lnTo>
                  <a:pt x="0" y="7154802"/>
                </a:lnTo>
                <a:lnTo>
                  <a:pt x="0" y="0"/>
                </a:lnTo>
                <a:close/>
              </a:path>
            </a:pathLst>
          </a:custGeom>
          <a:blipFill>
            <a:blip r:embed="rId3"/>
            <a:stretch>
              <a:fillRect l="0" t="0" r="0" b="0"/>
            </a:stretch>
          </a:blipFill>
        </p:spPr>
      </p:sp>
      <p:sp>
        <p:nvSpPr>
          <p:cNvPr name="TextBox 13" id="13"/>
          <p:cNvSpPr txBox="true"/>
          <p:nvPr/>
        </p:nvSpPr>
        <p:spPr>
          <a:xfrm rot="0">
            <a:off x="8092599" y="419644"/>
            <a:ext cx="2102802"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AWS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2224294"/>
            <a:ext cx="16627649" cy="7616185"/>
            <a:chOff x="0" y="0"/>
            <a:chExt cx="4379298" cy="2005909"/>
          </a:xfrm>
        </p:grpSpPr>
        <p:sp>
          <p:nvSpPr>
            <p:cNvPr name="Freeform 3" id="3"/>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4" id="4"/>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331153"/>
            <a:ext cx="16627649" cy="3086100"/>
            <a:chOff x="0" y="0"/>
            <a:chExt cx="4379298" cy="812800"/>
          </a:xfrm>
        </p:grpSpPr>
        <p:sp>
          <p:nvSpPr>
            <p:cNvPr name="Freeform 6" id="6"/>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7" id="7"/>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041814"/>
            <a:ext cx="16627649" cy="7611871"/>
            <a:chOff x="0" y="0"/>
            <a:chExt cx="4379298" cy="2004773"/>
          </a:xfrm>
        </p:grpSpPr>
        <p:sp>
          <p:nvSpPr>
            <p:cNvPr name="Freeform 9" id="9"/>
            <p:cNvSpPr/>
            <p:nvPr/>
          </p:nvSpPr>
          <p:spPr>
            <a:xfrm flipH="false" flipV="false" rot="0">
              <a:off x="0" y="0"/>
              <a:ext cx="4379299" cy="2004773"/>
            </a:xfrm>
            <a:custGeom>
              <a:avLst/>
              <a:gdLst/>
              <a:ahLst/>
              <a:cxnLst/>
              <a:rect r="r" b="b" t="t" l="l"/>
              <a:pathLst>
                <a:path h="2004773" w="4379299">
                  <a:moveTo>
                    <a:pt x="23746" y="0"/>
                  </a:moveTo>
                  <a:lnTo>
                    <a:pt x="4355553" y="0"/>
                  </a:lnTo>
                  <a:cubicBezTo>
                    <a:pt x="4368667" y="0"/>
                    <a:pt x="4379299" y="10631"/>
                    <a:pt x="4379299" y="23746"/>
                  </a:cubicBezTo>
                  <a:lnTo>
                    <a:pt x="4379299" y="1981027"/>
                  </a:lnTo>
                  <a:cubicBezTo>
                    <a:pt x="4379299" y="1994141"/>
                    <a:pt x="4368667" y="2004773"/>
                    <a:pt x="4355553" y="2004773"/>
                  </a:cubicBezTo>
                  <a:lnTo>
                    <a:pt x="23746" y="2004773"/>
                  </a:lnTo>
                  <a:cubicBezTo>
                    <a:pt x="10631" y="2004773"/>
                    <a:pt x="0" y="1994141"/>
                    <a:pt x="0" y="1981027"/>
                  </a:cubicBezTo>
                  <a:lnTo>
                    <a:pt x="0" y="23746"/>
                  </a:lnTo>
                  <a:cubicBezTo>
                    <a:pt x="0" y="10631"/>
                    <a:pt x="10631" y="0"/>
                    <a:pt x="23746" y="0"/>
                  </a:cubicBezTo>
                  <a:close/>
                </a:path>
              </a:pathLst>
            </a:custGeom>
            <a:solidFill>
              <a:srgbClr val="FFFFFF"/>
            </a:solidFill>
            <a:ln cap="rnd">
              <a:noFill/>
              <a:prstDash val="solid"/>
              <a:round/>
            </a:ln>
          </p:spPr>
        </p:sp>
        <p:sp>
          <p:nvSpPr>
            <p:cNvPr name="TextBox 10" id="10"/>
            <p:cNvSpPr txBox="true"/>
            <p:nvPr/>
          </p:nvSpPr>
          <p:spPr>
            <a:xfrm>
              <a:off x="0" y="-38100"/>
              <a:ext cx="4379298" cy="20428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7452598" y="4963925"/>
            <a:ext cx="5551755" cy="1851907"/>
          </a:xfrm>
          <a:custGeom>
            <a:avLst/>
            <a:gdLst/>
            <a:ahLst/>
            <a:cxnLst/>
            <a:rect r="r" b="b" t="t" l="l"/>
            <a:pathLst>
              <a:path h="1851907" w="5551755">
                <a:moveTo>
                  <a:pt x="0" y="0"/>
                </a:moveTo>
                <a:lnTo>
                  <a:pt x="5551754" y="0"/>
                </a:lnTo>
                <a:lnTo>
                  <a:pt x="5551754" y="1851907"/>
                </a:lnTo>
                <a:lnTo>
                  <a:pt x="0" y="1851907"/>
                </a:lnTo>
                <a:lnTo>
                  <a:pt x="0" y="0"/>
                </a:lnTo>
                <a:close/>
              </a:path>
            </a:pathLst>
          </a:custGeom>
          <a:blipFill>
            <a:blip r:embed="rId2"/>
            <a:stretch>
              <a:fillRect l="0" t="0" r="0" b="0"/>
            </a:stretch>
          </a:blipFill>
        </p:spPr>
      </p:sp>
      <p:sp>
        <p:nvSpPr>
          <p:cNvPr name="Freeform 12" id="12"/>
          <p:cNvSpPr/>
          <p:nvPr/>
        </p:nvSpPr>
        <p:spPr>
          <a:xfrm flipH="false" flipV="false" rot="0">
            <a:off x="7452598" y="6728424"/>
            <a:ext cx="5551755" cy="1851907"/>
          </a:xfrm>
          <a:custGeom>
            <a:avLst/>
            <a:gdLst/>
            <a:ahLst/>
            <a:cxnLst/>
            <a:rect r="r" b="b" t="t" l="l"/>
            <a:pathLst>
              <a:path h="1851907" w="5551755">
                <a:moveTo>
                  <a:pt x="0" y="0"/>
                </a:moveTo>
                <a:lnTo>
                  <a:pt x="5551754" y="0"/>
                </a:lnTo>
                <a:lnTo>
                  <a:pt x="5551754" y="1851906"/>
                </a:lnTo>
                <a:lnTo>
                  <a:pt x="0" y="1851906"/>
                </a:lnTo>
                <a:lnTo>
                  <a:pt x="0" y="0"/>
                </a:lnTo>
                <a:close/>
              </a:path>
            </a:pathLst>
          </a:custGeom>
          <a:blipFill>
            <a:blip r:embed="rId2"/>
            <a:stretch>
              <a:fillRect l="0" t="0" r="0" b="0"/>
            </a:stretch>
          </a:blipFill>
        </p:spPr>
      </p:sp>
      <p:sp>
        <p:nvSpPr>
          <p:cNvPr name="Freeform 13" id="13"/>
          <p:cNvSpPr/>
          <p:nvPr/>
        </p:nvSpPr>
        <p:spPr>
          <a:xfrm flipH="false" flipV="false" rot="0">
            <a:off x="9956152" y="6561993"/>
            <a:ext cx="544647" cy="332862"/>
          </a:xfrm>
          <a:custGeom>
            <a:avLst/>
            <a:gdLst/>
            <a:ahLst/>
            <a:cxnLst/>
            <a:rect r="r" b="b" t="t" l="l"/>
            <a:pathLst>
              <a:path h="332862" w="544647">
                <a:moveTo>
                  <a:pt x="0" y="0"/>
                </a:moveTo>
                <a:lnTo>
                  <a:pt x="544647" y="0"/>
                </a:lnTo>
                <a:lnTo>
                  <a:pt x="544647" y="332862"/>
                </a:lnTo>
                <a:lnTo>
                  <a:pt x="0" y="332862"/>
                </a:lnTo>
                <a:lnTo>
                  <a:pt x="0" y="0"/>
                </a:lnTo>
                <a:close/>
              </a:path>
            </a:pathLst>
          </a:custGeom>
          <a:blipFill>
            <a:blip r:embed="rId3"/>
            <a:stretch>
              <a:fillRect l="-123933" t="0" r="0" b="0"/>
            </a:stretch>
          </a:blipFill>
        </p:spPr>
      </p:sp>
      <p:sp>
        <p:nvSpPr>
          <p:cNvPr name="Freeform 14" id="14"/>
          <p:cNvSpPr/>
          <p:nvPr/>
        </p:nvSpPr>
        <p:spPr>
          <a:xfrm flipH="false" flipV="false" rot="0">
            <a:off x="9831954" y="7989795"/>
            <a:ext cx="988329" cy="658886"/>
          </a:xfrm>
          <a:custGeom>
            <a:avLst/>
            <a:gdLst/>
            <a:ahLst/>
            <a:cxnLst/>
            <a:rect r="r" b="b" t="t" l="l"/>
            <a:pathLst>
              <a:path h="658886" w="988329">
                <a:moveTo>
                  <a:pt x="0" y="0"/>
                </a:moveTo>
                <a:lnTo>
                  <a:pt x="988329" y="0"/>
                </a:lnTo>
                <a:lnTo>
                  <a:pt x="988329" y="658886"/>
                </a:lnTo>
                <a:lnTo>
                  <a:pt x="0" y="658886"/>
                </a:lnTo>
                <a:lnTo>
                  <a:pt x="0" y="0"/>
                </a:lnTo>
                <a:close/>
              </a:path>
            </a:pathLst>
          </a:custGeom>
          <a:blipFill>
            <a:blip r:embed="rId4"/>
            <a:stretch>
              <a:fillRect l="0" t="0" r="0" b="0"/>
            </a:stretch>
          </a:blipFill>
        </p:spPr>
      </p:sp>
      <p:sp>
        <p:nvSpPr>
          <p:cNvPr name="Freeform 15" id="15"/>
          <p:cNvSpPr/>
          <p:nvPr/>
        </p:nvSpPr>
        <p:spPr>
          <a:xfrm flipH="false" flipV="false" rot="0">
            <a:off x="5260623" y="3400920"/>
            <a:ext cx="1143702" cy="1143702"/>
          </a:xfrm>
          <a:custGeom>
            <a:avLst/>
            <a:gdLst/>
            <a:ahLst/>
            <a:cxnLst/>
            <a:rect r="r" b="b" t="t" l="l"/>
            <a:pathLst>
              <a:path h="1143702" w="1143702">
                <a:moveTo>
                  <a:pt x="0" y="0"/>
                </a:moveTo>
                <a:lnTo>
                  <a:pt x="1143702" y="0"/>
                </a:lnTo>
                <a:lnTo>
                  <a:pt x="1143702" y="1143702"/>
                </a:lnTo>
                <a:lnTo>
                  <a:pt x="0" y="1143702"/>
                </a:lnTo>
                <a:lnTo>
                  <a:pt x="0" y="0"/>
                </a:lnTo>
                <a:close/>
              </a:path>
            </a:pathLst>
          </a:custGeom>
          <a:blipFill>
            <a:blip r:embed="rId5"/>
            <a:stretch>
              <a:fillRect l="0" t="0" r="0" b="0"/>
            </a:stretch>
          </a:blipFill>
        </p:spPr>
      </p:sp>
      <p:sp>
        <p:nvSpPr>
          <p:cNvPr name="Freeform 16" id="16"/>
          <p:cNvSpPr/>
          <p:nvPr/>
        </p:nvSpPr>
        <p:spPr>
          <a:xfrm flipH="false" flipV="false" rot="0">
            <a:off x="5231330" y="5261252"/>
            <a:ext cx="1172995" cy="1172995"/>
          </a:xfrm>
          <a:custGeom>
            <a:avLst/>
            <a:gdLst/>
            <a:ahLst/>
            <a:cxnLst/>
            <a:rect r="r" b="b" t="t" l="l"/>
            <a:pathLst>
              <a:path h="1172995" w="1172995">
                <a:moveTo>
                  <a:pt x="0" y="0"/>
                </a:moveTo>
                <a:lnTo>
                  <a:pt x="1172995" y="0"/>
                </a:lnTo>
                <a:lnTo>
                  <a:pt x="1172995" y="1172995"/>
                </a:lnTo>
                <a:lnTo>
                  <a:pt x="0" y="1172995"/>
                </a:lnTo>
                <a:lnTo>
                  <a:pt x="0" y="0"/>
                </a:lnTo>
                <a:close/>
              </a:path>
            </a:pathLst>
          </a:custGeom>
          <a:blipFill>
            <a:blip r:embed="rId5"/>
            <a:stretch>
              <a:fillRect l="0" t="0" r="0" b="0"/>
            </a:stretch>
          </a:blipFill>
        </p:spPr>
      </p:sp>
      <p:sp>
        <p:nvSpPr>
          <p:cNvPr name="Freeform 17" id="17"/>
          <p:cNvSpPr/>
          <p:nvPr/>
        </p:nvSpPr>
        <p:spPr>
          <a:xfrm flipH="false" flipV="false" rot="0">
            <a:off x="7370051" y="3046817"/>
            <a:ext cx="5551755" cy="1851907"/>
          </a:xfrm>
          <a:custGeom>
            <a:avLst/>
            <a:gdLst/>
            <a:ahLst/>
            <a:cxnLst/>
            <a:rect r="r" b="b" t="t" l="l"/>
            <a:pathLst>
              <a:path h="1851907" w="5551755">
                <a:moveTo>
                  <a:pt x="0" y="0"/>
                </a:moveTo>
                <a:lnTo>
                  <a:pt x="5551754" y="0"/>
                </a:lnTo>
                <a:lnTo>
                  <a:pt x="5551754" y="1851907"/>
                </a:lnTo>
                <a:lnTo>
                  <a:pt x="0" y="1851907"/>
                </a:lnTo>
                <a:lnTo>
                  <a:pt x="0" y="0"/>
                </a:lnTo>
                <a:close/>
              </a:path>
            </a:pathLst>
          </a:custGeom>
          <a:blipFill>
            <a:blip r:embed="rId2"/>
            <a:stretch>
              <a:fillRect l="0" t="0" r="0" b="0"/>
            </a:stretch>
          </a:blipFill>
        </p:spPr>
      </p:sp>
      <p:sp>
        <p:nvSpPr>
          <p:cNvPr name="Freeform 18" id="18"/>
          <p:cNvSpPr/>
          <p:nvPr/>
        </p:nvSpPr>
        <p:spPr>
          <a:xfrm flipH="false" flipV="false" rot="0">
            <a:off x="9873605" y="4631063"/>
            <a:ext cx="544647" cy="332862"/>
          </a:xfrm>
          <a:custGeom>
            <a:avLst/>
            <a:gdLst/>
            <a:ahLst/>
            <a:cxnLst/>
            <a:rect r="r" b="b" t="t" l="l"/>
            <a:pathLst>
              <a:path h="332862" w="544647">
                <a:moveTo>
                  <a:pt x="0" y="0"/>
                </a:moveTo>
                <a:lnTo>
                  <a:pt x="544647" y="0"/>
                </a:lnTo>
                <a:lnTo>
                  <a:pt x="544647" y="332862"/>
                </a:lnTo>
                <a:lnTo>
                  <a:pt x="0" y="332862"/>
                </a:lnTo>
                <a:lnTo>
                  <a:pt x="0" y="0"/>
                </a:lnTo>
                <a:close/>
              </a:path>
            </a:pathLst>
          </a:custGeom>
          <a:blipFill>
            <a:blip r:embed="rId3"/>
            <a:stretch>
              <a:fillRect l="-123933" t="0" r="0" b="0"/>
            </a:stretch>
          </a:blipFill>
        </p:spPr>
      </p:sp>
      <p:sp>
        <p:nvSpPr>
          <p:cNvPr name="AutoShape 19" id="19"/>
          <p:cNvSpPr/>
          <p:nvPr/>
        </p:nvSpPr>
        <p:spPr>
          <a:xfrm flipV="true">
            <a:off x="6651367" y="5908929"/>
            <a:ext cx="718683" cy="0"/>
          </a:xfrm>
          <a:prstGeom prst="line">
            <a:avLst/>
          </a:prstGeom>
          <a:ln cap="flat" w="38100">
            <a:solidFill>
              <a:srgbClr val="000000"/>
            </a:solidFill>
            <a:prstDash val="solid"/>
            <a:headEnd type="none" len="sm" w="sm"/>
            <a:tailEnd type="triangle" len="med" w="lg"/>
          </a:ln>
        </p:spPr>
      </p:sp>
      <p:grpSp>
        <p:nvGrpSpPr>
          <p:cNvPr name="Group 20" id="20"/>
          <p:cNvGrpSpPr/>
          <p:nvPr/>
        </p:nvGrpSpPr>
        <p:grpSpPr>
          <a:xfrm rot="0">
            <a:off x="7452598" y="3241327"/>
            <a:ext cx="5551755" cy="5694807"/>
            <a:chOff x="0" y="0"/>
            <a:chExt cx="1462191" cy="1499867"/>
          </a:xfrm>
        </p:grpSpPr>
        <p:sp>
          <p:nvSpPr>
            <p:cNvPr name="Freeform 21" id="21"/>
            <p:cNvSpPr/>
            <p:nvPr/>
          </p:nvSpPr>
          <p:spPr>
            <a:xfrm flipH="false" flipV="false" rot="0">
              <a:off x="0" y="0"/>
              <a:ext cx="1462191" cy="1499867"/>
            </a:xfrm>
            <a:custGeom>
              <a:avLst/>
              <a:gdLst/>
              <a:ahLst/>
              <a:cxnLst/>
              <a:rect r="r" b="b" t="t" l="l"/>
              <a:pathLst>
                <a:path h="1499867" w="1462191">
                  <a:moveTo>
                    <a:pt x="71119" y="0"/>
                  </a:moveTo>
                  <a:lnTo>
                    <a:pt x="1391071" y="0"/>
                  </a:lnTo>
                  <a:cubicBezTo>
                    <a:pt x="1409933" y="0"/>
                    <a:pt x="1428023" y="7493"/>
                    <a:pt x="1441360" y="20830"/>
                  </a:cubicBezTo>
                  <a:cubicBezTo>
                    <a:pt x="1454698" y="34168"/>
                    <a:pt x="1462191" y="52257"/>
                    <a:pt x="1462191" y="71119"/>
                  </a:cubicBezTo>
                  <a:lnTo>
                    <a:pt x="1462191" y="1428747"/>
                  </a:lnTo>
                  <a:cubicBezTo>
                    <a:pt x="1462191" y="1468026"/>
                    <a:pt x="1430349" y="1499867"/>
                    <a:pt x="1391071" y="1499867"/>
                  </a:cubicBezTo>
                  <a:lnTo>
                    <a:pt x="71119" y="1499867"/>
                  </a:lnTo>
                  <a:cubicBezTo>
                    <a:pt x="52257" y="1499867"/>
                    <a:pt x="34168" y="1492374"/>
                    <a:pt x="20830" y="1479036"/>
                  </a:cubicBezTo>
                  <a:cubicBezTo>
                    <a:pt x="7493" y="1465699"/>
                    <a:pt x="0" y="1447609"/>
                    <a:pt x="0" y="1428747"/>
                  </a:cubicBezTo>
                  <a:lnTo>
                    <a:pt x="0" y="71119"/>
                  </a:lnTo>
                  <a:cubicBezTo>
                    <a:pt x="0" y="52257"/>
                    <a:pt x="7493" y="34168"/>
                    <a:pt x="20830" y="20830"/>
                  </a:cubicBezTo>
                  <a:cubicBezTo>
                    <a:pt x="34168" y="7493"/>
                    <a:pt x="52257" y="0"/>
                    <a:pt x="71119" y="0"/>
                  </a:cubicBezTo>
                  <a:close/>
                </a:path>
              </a:pathLst>
            </a:custGeom>
            <a:solidFill>
              <a:srgbClr val="000000">
                <a:alpha val="0"/>
              </a:srgbClr>
            </a:solidFill>
            <a:ln w="85725" cap="rnd">
              <a:solidFill>
                <a:srgbClr val="000000"/>
              </a:solidFill>
              <a:prstDash val="solid"/>
              <a:round/>
            </a:ln>
          </p:spPr>
        </p:sp>
        <p:sp>
          <p:nvSpPr>
            <p:cNvPr name="TextBox 22" id="22"/>
            <p:cNvSpPr txBox="true"/>
            <p:nvPr/>
          </p:nvSpPr>
          <p:spPr>
            <a:xfrm>
              <a:off x="0" y="-38100"/>
              <a:ext cx="1462191" cy="1537967"/>
            </a:xfrm>
            <a:prstGeom prst="rect">
              <a:avLst/>
            </a:prstGeom>
          </p:spPr>
          <p:txBody>
            <a:bodyPr anchor="ctr" rtlCol="false" tIns="50800" lIns="50800" bIns="50800" rIns="50800"/>
            <a:lstStyle/>
            <a:p>
              <a:pPr algn="ctr">
                <a:lnSpc>
                  <a:spcPts val="2659"/>
                </a:lnSpc>
              </a:pPr>
            </a:p>
          </p:txBody>
        </p:sp>
      </p:grpSp>
      <p:sp>
        <p:nvSpPr>
          <p:cNvPr name="AutoShape 23" id="23"/>
          <p:cNvSpPr/>
          <p:nvPr/>
        </p:nvSpPr>
        <p:spPr>
          <a:xfrm flipV="true">
            <a:off x="6651367" y="3991821"/>
            <a:ext cx="718683" cy="0"/>
          </a:xfrm>
          <a:prstGeom prst="line">
            <a:avLst/>
          </a:prstGeom>
          <a:ln cap="flat" w="38100">
            <a:solidFill>
              <a:srgbClr val="000000"/>
            </a:solidFill>
            <a:prstDash val="solid"/>
            <a:headEnd type="none" len="sm" w="sm"/>
            <a:tailEnd type="triangle" len="med" w="lg"/>
          </a:ln>
        </p:spPr>
      </p:sp>
      <p:sp>
        <p:nvSpPr>
          <p:cNvPr name="Freeform 24" id="24"/>
          <p:cNvSpPr/>
          <p:nvPr/>
        </p:nvSpPr>
        <p:spPr>
          <a:xfrm flipH="false" flipV="false" rot="0">
            <a:off x="9187518" y="2041814"/>
            <a:ext cx="2081914" cy="1199513"/>
          </a:xfrm>
          <a:custGeom>
            <a:avLst/>
            <a:gdLst/>
            <a:ahLst/>
            <a:cxnLst/>
            <a:rect r="r" b="b" t="t" l="l"/>
            <a:pathLst>
              <a:path h="1199513" w="2081914">
                <a:moveTo>
                  <a:pt x="0" y="0"/>
                </a:moveTo>
                <a:lnTo>
                  <a:pt x="2081914" y="0"/>
                </a:lnTo>
                <a:lnTo>
                  <a:pt x="2081914" y="1199513"/>
                </a:lnTo>
                <a:lnTo>
                  <a:pt x="0" y="1199513"/>
                </a:lnTo>
                <a:lnTo>
                  <a:pt x="0" y="0"/>
                </a:lnTo>
                <a:close/>
              </a:path>
            </a:pathLst>
          </a:custGeom>
          <a:blipFill>
            <a:blip r:embed="rId6"/>
            <a:stretch>
              <a:fillRect l="0" t="0" r="0" b="0"/>
            </a:stretch>
          </a:blipFill>
        </p:spPr>
      </p:sp>
      <p:sp>
        <p:nvSpPr>
          <p:cNvPr name="TextBox 25" id="25"/>
          <p:cNvSpPr txBox="true"/>
          <p:nvPr/>
        </p:nvSpPr>
        <p:spPr>
          <a:xfrm rot="0">
            <a:off x="7657234" y="304800"/>
            <a:ext cx="3370580"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Docker</a:t>
            </a:r>
          </a:p>
        </p:txBody>
      </p:sp>
      <p:sp>
        <p:nvSpPr>
          <p:cNvPr name="TextBox 26" id="26"/>
          <p:cNvSpPr txBox="true"/>
          <p:nvPr/>
        </p:nvSpPr>
        <p:spPr>
          <a:xfrm rot="0">
            <a:off x="5596988" y="4453809"/>
            <a:ext cx="407112" cy="343685"/>
          </a:xfrm>
          <a:prstGeom prst="rect">
            <a:avLst/>
          </a:prstGeom>
        </p:spPr>
        <p:txBody>
          <a:bodyPr anchor="t" rtlCol="false" tIns="0" lIns="0" bIns="0" rIns="0">
            <a:spAutoFit/>
          </a:bodyPr>
          <a:lstStyle/>
          <a:p>
            <a:pPr algn="ctr">
              <a:lnSpc>
                <a:spcPts val="2721"/>
              </a:lnSpc>
            </a:pPr>
            <a:r>
              <a:rPr lang="en-US" sz="1944">
                <a:solidFill>
                  <a:srgbClr val="000000"/>
                </a:solidFill>
                <a:latin typeface="Open Sans Bold"/>
              </a:rPr>
              <a:t>API</a:t>
            </a:r>
          </a:p>
        </p:txBody>
      </p:sp>
      <p:sp>
        <p:nvSpPr>
          <p:cNvPr name="TextBox 27" id="27"/>
          <p:cNvSpPr txBox="true"/>
          <p:nvPr/>
        </p:nvSpPr>
        <p:spPr>
          <a:xfrm rot="0">
            <a:off x="5533129" y="6396147"/>
            <a:ext cx="470971" cy="328340"/>
          </a:xfrm>
          <a:prstGeom prst="rect">
            <a:avLst/>
          </a:prstGeom>
        </p:spPr>
        <p:txBody>
          <a:bodyPr anchor="t" rtlCol="false" tIns="0" lIns="0" bIns="0" rIns="0">
            <a:spAutoFit/>
          </a:bodyPr>
          <a:lstStyle/>
          <a:p>
            <a:pPr algn="ctr">
              <a:lnSpc>
                <a:spcPts val="2668"/>
              </a:lnSpc>
            </a:pPr>
            <a:r>
              <a:rPr lang="en-US" sz="1905">
                <a:solidFill>
                  <a:srgbClr val="000000"/>
                </a:solidFill>
                <a:latin typeface="Open Sans Bold"/>
              </a:rPr>
              <a:t>APP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2224294"/>
            <a:ext cx="16627649" cy="7616185"/>
            <a:chOff x="0" y="0"/>
            <a:chExt cx="4379298" cy="2005909"/>
          </a:xfrm>
        </p:grpSpPr>
        <p:sp>
          <p:nvSpPr>
            <p:cNvPr name="Freeform 3" id="3"/>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4" id="4"/>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331153"/>
            <a:ext cx="16627649" cy="3086100"/>
            <a:chOff x="0" y="0"/>
            <a:chExt cx="4379298" cy="812800"/>
          </a:xfrm>
        </p:grpSpPr>
        <p:sp>
          <p:nvSpPr>
            <p:cNvPr name="Freeform 6" id="6"/>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7" id="7"/>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041814"/>
            <a:ext cx="16627649" cy="7611871"/>
            <a:chOff x="0" y="0"/>
            <a:chExt cx="4379298" cy="2004773"/>
          </a:xfrm>
        </p:grpSpPr>
        <p:sp>
          <p:nvSpPr>
            <p:cNvPr name="Freeform 9" id="9"/>
            <p:cNvSpPr/>
            <p:nvPr/>
          </p:nvSpPr>
          <p:spPr>
            <a:xfrm flipH="false" flipV="false" rot="0">
              <a:off x="0" y="0"/>
              <a:ext cx="4379299" cy="2004773"/>
            </a:xfrm>
            <a:custGeom>
              <a:avLst/>
              <a:gdLst/>
              <a:ahLst/>
              <a:cxnLst/>
              <a:rect r="r" b="b" t="t" l="l"/>
              <a:pathLst>
                <a:path h="2004773" w="4379299">
                  <a:moveTo>
                    <a:pt x="23746" y="0"/>
                  </a:moveTo>
                  <a:lnTo>
                    <a:pt x="4355553" y="0"/>
                  </a:lnTo>
                  <a:cubicBezTo>
                    <a:pt x="4368667" y="0"/>
                    <a:pt x="4379299" y="10631"/>
                    <a:pt x="4379299" y="23746"/>
                  </a:cubicBezTo>
                  <a:lnTo>
                    <a:pt x="4379299" y="1981027"/>
                  </a:lnTo>
                  <a:cubicBezTo>
                    <a:pt x="4379299" y="1994141"/>
                    <a:pt x="4368667" y="2004773"/>
                    <a:pt x="4355553" y="2004773"/>
                  </a:cubicBezTo>
                  <a:lnTo>
                    <a:pt x="23746" y="2004773"/>
                  </a:lnTo>
                  <a:cubicBezTo>
                    <a:pt x="10631" y="2004773"/>
                    <a:pt x="0" y="1994141"/>
                    <a:pt x="0" y="1981027"/>
                  </a:cubicBezTo>
                  <a:lnTo>
                    <a:pt x="0" y="23746"/>
                  </a:lnTo>
                  <a:cubicBezTo>
                    <a:pt x="0" y="10631"/>
                    <a:pt x="10631" y="0"/>
                    <a:pt x="23746" y="0"/>
                  </a:cubicBezTo>
                  <a:close/>
                </a:path>
              </a:pathLst>
            </a:custGeom>
            <a:solidFill>
              <a:srgbClr val="FFFFFF"/>
            </a:solidFill>
            <a:ln cap="rnd">
              <a:noFill/>
              <a:prstDash val="solid"/>
              <a:round/>
            </a:ln>
          </p:spPr>
        </p:sp>
        <p:sp>
          <p:nvSpPr>
            <p:cNvPr name="TextBox 10" id="10"/>
            <p:cNvSpPr txBox="true"/>
            <p:nvPr/>
          </p:nvSpPr>
          <p:spPr>
            <a:xfrm>
              <a:off x="0" y="-38100"/>
              <a:ext cx="4379298" cy="20428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1" id="11"/>
          <p:cNvSpPr/>
          <p:nvPr/>
        </p:nvSpPr>
        <p:spPr>
          <a:xfrm flipH="false" flipV="false" rot="0">
            <a:off x="1888755" y="2179671"/>
            <a:ext cx="14907539" cy="7336156"/>
          </a:xfrm>
          <a:custGeom>
            <a:avLst/>
            <a:gdLst/>
            <a:ahLst/>
            <a:cxnLst/>
            <a:rect r="r" b="b" t="t" l="l"/>
            <a:pathLst>
              <a:path h="7336156" w="14907539">
                <a:moveTo>
                  <a:pt x="0" y="0"/>
                </a:moveTo>
                <a:lnTo>
                  <a:pt x="14907539" y="0"/>
                </a:lnTo>
                <a:lnTo>
                  <a:pt x="14907539" y="7336156"/>
                </a:lnTo>
                <a:lnTo>
                  <a:pt x="0" y="7336156"/>
                </a:lnTo>
                <a:lnTo>
                  <a:pt x="0" y="0"/>
                </a:lnTo>
                <a:close/>
              </a:path>
            </a:pathLst>
          </a:custGeom>
          <a:blipFill>
            <a:blip r:embed="rId2"/>
            <a:stretch>
              <a:fillRect l="0" t="0" r="0" b="0"/>
            </a:stretch>
          </a:blipFill>
        </p:spPr>
      </p:sp>
      <p:sp>
        <p:nvSpPr>
          <p:cNvPr name="TextBox 12" id="12"/>
          <p:cNvSpPr txBox="true"/>
          <p:nvPr/>
        </p:nvSpPr>
        <p:spPr>
          <a:xfrm rot="0">
            <a:off x="8100703" y="304800"/>
            <a:ext cx="2483644"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Local</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D3D3D3"/>
        </a:solidFill>
      </p:bgPr>
    </p:bg>
    <p:spTree>
      <p:nvGrpSpPr>
        <p:cNvPr id="1" name=""/>
        <p:cNvGrpSpPr/>
        <p:nvPr/>
      </p:nvGrpSpPr>
      <p:grpSpPr>
        <a:xfrm>
          <a:off x="0" y="0"/>
          <a:ext cx="0" cy="0"/>
          <a:chOff x="0" y="0"/>
          <a:chExt cx="0" cy="0"/>
        </a:xfrm>
      </p:grpSpPr>
      <p:grpSp>
        <p:nvGrpSpPr>
          <p:cNvPr name="Group 2" id="2"/>
          <p:cNvGrpSpPr/>
          <p:nvPr/>
        </p:nvGrpSpPr>
        <p:grpSpPr>
          <a:xfrm rot="0">
            <a:off x="1028700" y="2224294"/>
            <a:ext cx="16627649" cy="7616185"/>
            <a:chOff x="0" y="0"/>
            <a:chExt cx="4379298" cy="2005909"/>
          </a:xfrm>
        </p:grpSpPr>
        <p:sp>
          <p:nvSpPr>
            <p:cNvPr name="Freeform 3" id="3"/>
            <p:cNvSpPr/>
            <p:nvPr/>
          </p:nvSpPr>
          <p:spPr>
            <a:xfrm flipH="false" flipV="false" rot="0">
              <a:off x="0" y="0"/>
              <a:ext cx="4379299" cy="2005909"/>
            </a:xfrm>
            <a:custGeom>
              <a:avLst/>
              <a:gdLst/>
              <a:ahLst/>
              <a:cxnLst/>
              <a:rect r="r" b="b" t="t" l="l"/>
              <a:pathLst>
                <a:path h="2005909" w="4379299">
                  <a:moveTo>
                    <a:pt x="23746" y="0"/>
                  </a:moveTo>
                  <a:lnTo>
                    <a:pt x="4355553" y="0"/>
                  </a:lnTo>
                  <a:cubicBezTo>
                    <a:pt x="4368667" y="0"/>
                    <a:pt x="4379299" y="10631"/>
                    <a:pt x="4379299" y="23746"/>
                  </a:cubicBezTo>
                  <a:lnTo>
                    <a:pt x="4379299" y="1982163"/>
                  </a:lnTo>
                  <a:cubicBezTo>
                    <a:pt x="4379299" y="1995277"/>
                    <a:pt x="4368667" y="2005909"/>
                    <a:pt x="4355553" y="2005909"/>
                  </a:cubicBezTo>
                  <a:lnTo>
                    <a:pt x="23746" y="2005909"/>
                  </a:lnTo>
                  <a:cubicBezTo>
                    <a:pt x="10631" y="2005909"/>
                    <a:pt x="0" y="1995277"/>
                    <a:pt x="0" y="1982163"/>
                  </a:cubicBezTo>
                  <a:lnTo>
                    <a:pt x="0" y="23746"/>
                  </a:lnTo>
                  <a:cubicBezTo>
                    <a:pt x="0" y="10631"/>
                    <a:pt x="10631" y="0"/>
                    <a:pt x="23746" y="0"/>
                  </a:cubicBezTo>
                  <a:close/>
                </a:path>
              </a:pathLst>
            </a:custGeom>
            <a:solidFill>
              <a:srgbClr val="000000">
                <a:alpha val="7843"/>
              </a:srgbClr>
            </a:solidFill>
            <a:ln cap="rnd">
              <a:noFill/>
              <a:prstDash val="solid"/>
              <a:round/>
            </a:ln>
          </p:spPr>
        </p:sp>
        <p:sp>
          <p:nvSpPr>
            <p:cNvPr name="TextBox 4" id="4"/>
            <p:cNvSpPr txBox="true"/>
            <p:nvPr/>
          </p:nvSpPr>
          <p:spPr>
            <a:xfrm>
              <a:off x="0" y="-38100"/>
              <a:ext cx="4379298" cy="204400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5" id="5"/>
          <p:cNvGrpSpPr/>
          <p:nvPr/>
        </p:nvGrpSpPr>
        <p:grpSpPr>
          <a:xfrm rot="0">
            <a:off x="1028700" y="331153"/>
            <a:ext cx="16627649" cy="3086100"/>
            <a:chOff x="0" y="0"/>
            <a:chExt cx="4379298" cy="812800"/>
          </a:xfrm>
        </p:grpSpPr>
        <p:sp>
          <p:nvSpPr>
            <p:cNvPr name="Freeform 6" id="6"/>
            <p:cNvSpPr/>
            <p:nvPr/>
          </p:nvSpPr>
          <p:spPr>
            <a:xfrm flipH="false" flipV="false" rot="0">
              <a:off x="0" y="0"/>
              <a:ext cx="4379299" cy="812800"/>
            </a:xfrm>
            <a:custGeom>
              <a:avLst/>
              <a:gdLst/>
              <a:ahLst/>
              <a:cxnLst/>
              <a:rect r="r" b="b" t="t" l="l"/>
              <a:pathLst>
                <a:path h="812800" w="4379299">
                  <a:moveTo>
                    <a:pt x="23746" y="0"/>
                  </a:moveTo>
                  <a:lnTo>
                    <a:pt x="4355553" y="0"/>
                  </a:lnTo>
                  <a:cubicBezTo>
                    <a:pt x="4368667" y="0"/>
                    <a:pt x="4379299" y="10631"/>
                    <a:pt x="4379299" y="23746"/>
                  </a:cubicBezTo>
                  <a:lnTo>
                    <a:pt x="4379299" y="789054"/>
                  </a:lnTo>
                  <a:cubicBezTo>
                    <a:pt x="4379299" y="802169"/>
                    <a:pt x="4368667" y="812800"/>
                    <a:pt x="4355553" y="812800"/>
                  </a:cubicBezTo>
                  <a:lnTo>
                    <a:pt x="23746" y="812800"/>
                  </a:lnTo>
                  <a:cubicBezTo>
                    <a:pt x="10631" y="812800"/>
                    <a:pt x="0" y="802169"/>
                    <a:pt x="0" y="789054"/>
                  </a:cubicBezTo>
                  <a:lnTo>
                    <a:pt x="0" y="23746"/>
                  </a:lnTo>
                  <a:cubicBezTo>
                    <a:pt x="0" y="10631"/>
                    <a:pt x="10631" y="0"/>
                    <a:pt x="23746" y="0"/>
                  </a:cubicBezTo>
                  <a:close/>
                </a:path>
              </a:pathLst>
            </a:custGeom>
            <a:solidFill>
              <a:srgbClr val="F8F8F8"/>
            </a:solidFill>
          </p:spPr>
        </p:sp>
        <p:sp>
          <p:nvSpPr>
            <p:cNvPr name="TextBox 7" id="7"/>
            <p:cNvSpPr txBox="true"/>
            <p:nvPr/>
          </p:nvSpPr>
          <p:spPr>
            <a:xfrm>
              <a:off x="0" y="-38100"/>
              <a:ext cx="4379298" cy="8509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2041814"/>
            <a:ext cx="16627649" cy="7611871"/>
            <a:chOff x="0" y="0"/>
            <a:chExt cx="4379298" cy="2004773"/>
          </a:xfrm>
        </p:grpSpPr>
        <p:sp>
          <p:nvSpPr>
            <p:cNvPr name="Freeform 9" id="9"/>
            <p:cNvSpPr/>
            <p:nvPr/>
          </p:nvSpPr>
          <p:spPr>
            <a:xfrm flipH="false" flipV="false" rot="0">
              <a:off x="0" y="0"/>
              <a:ext cx="4379299" cy="2004773"/>
            </a:xfrm>
            <a:custGeom>
              <a:avLst/>
              <a:gdLst/>
              <a:ahLst/>
              <a:cxnLst/>
              <a:rect r="r" b="b" t="t" l="l"/>
              <a:pathLst>
                <a:path h="2004773" w="4379299">
                  <a:moveTo>
                    <a:pt x="23746" y="0"/>
                  </a:moveTo>
                  <a:lnTo>
                    <a:pt x="4355553" y="0"/>
                  </a:lnTo>
                  <a:cubicBezTo>
                    <a:pt x="4368667" y="0"/>
                    <a:pt x="4379299" y="10631"/>
                    <a:pt x="4379299" y="23746"/>
                  </a:cubicBezTo>
                  <a:lnTo>
                    <a:pt x="4379299" y="1981027"/>
                  </a:lnTo>
                  <a:cubicBezTo>
                    <a:pt x="4379299" y="1994141"/>
                    <a:pt x="4368667" y="2004773"/>
                    <a:pt x="4355553" y="2004773"/>
                  </a:cubicBezTo>
                  <a:lnTo>
                    <a:pt x="23746" y="2004773"/>
                  </a:lnTo>
                  <a:cubicBezTo>
                    <a:pt x="10631" y="2004773"/>
                    <a:pt x="0" y="1994141"/>
                    <a:pt x="0" y="1981027"/>
                  </a:cubicBezTo>
                  <a:lnTo>
                    <a:pt x="0" y="23746"/>
                  </a:lnTo>
                  <a:cubicBezTo>
                    <a:pt x="0" y="10631"/>
                    <a:pt x="10631" y="0"/>
                    <a:pt x="23746" y="0"/>
                  </a:cubicBezTo>
                  <a:close/>
                </a:path>
              </a:pathLst>
            </a:custGeom>
            <a:solidFill>
              <a:srgbClr val="FFFFFF"/>
            </a:solidFill>
            <a:ln cap="rnd">
              <a:noFill/>
              <a:prstDash val="solid"/>
              <a:round/>
            </a:ln>
          </p:spPr>
        </p:sp>
        <p:sp>
          <p:nvSpPr>
            <p:cNvPr name="TextBox 10" id="10"/>
            <p:cNvSpPr txBox="true"/>
            <p:nvPr/>
          </p:nvSpPr>
          <p:spPr>
            <a:xfrm>
              <a:off x="0" y="-38100"/>
              <a:ext cx="4379298" cy="204287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3452733" y="416013"/>
            <a:ext cx="11382533" cy="1295400"/>
          </a:xfrm>
          <a:prstGeom prst="rect">
            <a:avLst/>
          </a:prstGeom>
        </p:spPr>
        <p:txBody>
          <a:bodyPr anchor="t" rtlCol="false" tIns="0" lIns="0" bIns="0" rIns="0">
            <a:spAutoFit/>
          </a:bodyPr>
          <a:lstStyle/>
          <a:p>
            <a:pPr algn="ctr">
              <a:lnSpc>
                <a:spcPts val="10500"/>
              </a:lnSpc>
            </a:pPr>
            <a:r>
              <a:rPr lang="en-US" sz="7500">
                <a:solidFill>
                  <a:srgbClr val="000000"/>
                </a:solidFill>
                <a:latin typeface="Open Sans Bold"/>
              </a:rPr>
              <a:t>Conclusión del proyecto</a:t>
            </a:r>
          </a:p>
        </p:txBody>
      </p:sp>
      <p:sp>
        <p:nvSpPr>
          <p:cNvPr name="TextBox 12" id="12"/>
          <p:cNvSpPr txBox="true"/>
          <p:nvPr/>
        </p:nvSpPr>
        <p:spPr>
          <a:xfrm rot="0">
            <a:off x="3141099" y="2809791"/>
            <a:ext cx="13213341" cy="6037817"/>
          </a:xfrm>
          <a:prstGeom prst="rect">
            <a:avLst/>
          </a:prstGeom>
        </p:spPr>
        <p:txBody>
          <a:bodyPr anchor="t" rtlCol="false" tIns="0" lIns="0" bIns="0" rIns="0">
            <a:spAutoFit/>
          </a:bodyPr>
          <a:lstStyle/>
          <a:p>
            <a:pPr algn="just" marL="413590" indent="-206795" lvl="1">
              <a:lnSpc>
                <a:spcPts val="2681"/>
              </a:lnSpc>
              <a:buFont typeface="Arial"/>
              <a:buChar char="•"/>
            </a:pPr>
            <a:r>
              <a:rPr lang="en-US" sz="1915">
                <a:solidFill>
                  <a:srgbClr val="000000"/>
                </a:solidFill>
                <a:latin typeface="Open Sans"/>
              </a:rPr>
              <a:t>Implementación Exitosa de Tecnologías</a:t>
            </a:r>
            <a:r>
              <a:rPr lang="en-US" sz="1915">
                <a:solidFill>
                  <a:srgbClr val="000000"/>
                </a:solidFill>
                <a:latin typeface="Open Sans"/>
              </a:rPr>
              <a:t>:</a:t>
            </a:r>
          </a:p>
          <a:p>
            <a:pPr algn="just" marL="827181" indent="-275727" lvl="2">
              <a:lnSpc>
                <a:spcPts val="2681"/>
              </a:lnSpc>
              <a:buFont typeface="Arial"/>
              <a:buChar char="⚬"/>
            </a:pPr>
            <a:r>
              <a:rPr lang="en-US" sz="1915">
                <a:solidFill>
                  <a:srgbClr val="000000"/>
                </a:solidFill>
                <a:latin typeface="Open Sans"/>
              </a:rPr>
              <a:t>Us</a:t>
            </a:r>
            <a:r>
              <a:rPr lang="en-US" sz="1915">
                <a:solidFill>
                  <a:srgbClr val="000000"/>
                </a:solidFill>
                <a:latin typeface="Open Sans"/>
              </a:rPr>
              <a:t>o</a:t>
            </a:r>
            <a:r>
              <a:rPr lang="en-US" sz="1915">
                <a:solidFill>
                  <a:srgbClr val="000000"/>
                </a:solidFill>
                <a:latin typeface="Open Sans"/>
              </a:rPr>
              <a:t> de Spring Boot, Spring Security,</a:t>
            </a:r>
            <a:r>
              <a:rPr lang="en-US" sz="1915">
                <a:solidFill>
                  <a:srgbClr val="000000"/>
                </a:solidFill>
                <a:latin typeface="Open Sans"/>
              </a:rPr>
              <a:t> Docker</a:t>
            </a:r>
            <a:r>
              <a:rPr lang="en-US" sz="1915">
                <a:solidFill>
                  <a:srgbClr val="000000"/>
                </a:solidFill>
                <a:latin typeface="Open Sans"/>
              </a:rPr>
              <a:t>, AWS, </a:t>
            </a:r>
            <a:r>
              <a:rPr lang="en-US" sz="1915">
                <a:solidFill>
                  <a:srgbClr val="000000"/>
                </a:solidFill>
                <a:latin typeface="Open Sans"/>
              </a:rPr>
              <a:t>Bootstrap, Chart.js, etc...</a:t>
            </a:r>
          </a:p>
          <a:p>
            <a:pPr algn="just">
              <a:lnSpc>
                <a:spcPts val="2681"/>
              </a:lnSpc>
            </a:pPr>
          </a:p>
          <a:p>
            <a:pPr algn="just" marL="413590" indent="-206795" lvl="1">
              <a:lnSpc>
                <a:spcPts val="2681"/>
              </a:lnSpc>
              <a:buFont typeface="Arial"/>
              <a:buChar char="•"/>
            </a:pPr>
            <a:r>
              <a:rPr lang="en-US" sz="1915">
                <a:solidFill>
                  <a:srgbClr val="000000"/>
                </a:solidFill>
                <a:latin typeface="Open Sans"/>
              </a:rPr>
              <a:t>Desafíos y Soluciones</a:t>
            </a:r>
            <a:r>
              <a:rPr lang="en-US" sz="1915">
                <a:solidFill>
                  <a:srgbClr val="000000"/>
                </a:solidFill>
                <a:latin typeface="Open Sans"/>
              </a:rPr>
              <a:t>:</a:t>
            </a:r>
          </a:p>
          <a:p>
            <a:pPr algn="just" marL="827181" indent="-275727" lvl="2">
              <a:lnSpc>
                <a:spcPts val="2681"/>
              </a:lnSpc>
              <a:buFont typeface="Arial"/>
              <a:buChar char="⚬"/>
            </a:pPr>
            <a:r>
              <a:rPr lang="en-US" sz="1915">
                <a:solidFill>
                  <a:srgbClr val="000000"/>
                </a:solidFill>
                <a:latin typeface="Open Sans"/>
              </a:rPr>
              <a:t>Integración de APIs</a:t>
            </a:r>
            <a:r>
              <a:rPr lang="en-US" sz="1915">
                <a:solidFill>
                  <a:srgbClr val="000000"/>
                </a:solidFill>
                <a:latin typeface="Open Sans"/>
              </a:rPr>
              <a:t> y configuración de s</a:t>
            </a:r>
            <a:r>
              <a:rPr lang="en-US" sz="1915">
                <a:solidFill>
                  <a:srgbClr val="000000"/>
                </a:solidFill>
                <a:latin typeface="Open Sans"/>
              </a:rPr>
              <a:t>eguridad </a:t>
            </a:r>
            <a:r>
              <a:rPr lang="en-US" sz="1915">
                <a:solidFill>
                  <a:srgbClr val="000000"/>
                </a:solidFill>
                <a:latin typeface="Open Sans"/>
              </a:rPr>
              <a:t>con Spring Security.</a:t>
            </a:r>
          </a:p>
          <a:p>
            <a:pPr algn="just">
              <a:lnSpc>
                <a:spcPts val="2681"/>
              </a:lnSpc>
            </a:pPr>
          </a:p>
          <a:p>
            <a:pPr algn="just" marL="413590" indent="-206795" lvl="1">
              <a:lnSpc>
                <a:spcPts val="2681"/>
              </a:lnSpc>
              <a:buFont typeface="Arial"/>
              <a:buChar char="•"/>
            </a:pPr>
            <a:r>
              <a:rPr lang="en-US" sz="1915">
                <a:solidFill>
                  <a:srgbClr val="000000"/>
                </a:solidFill>
                <a:latin typeface="Open Sans"/>
              </a:rPr>
              <a:t>Lecciones Aprendidas</a:t>
            </a:r>
            <a:r>
              <a:rPr lang="en-US" sz="1915">
                <a:solidFill>
                  <a:srgbClr val="000000"/>
                </a:solidFill>
                <a:latin typeface="Open Sans"/>
              </a:rPr>
              <a:t>:</a:t>
            </a:r>
          </a:p>
          <a:p>
            <a:pPr algn="just" marL="827181" indent="-275727" lvl="2">
              <a:lnSpc>
                <a:spcPts val="2681"/>
              </a:lnSpc>
              <a:buFont typeface="Arial"/>
              <a:buChar char="⚬"/>
            </a:pPr>
            <a:r>
              <a:rPr lang="en-US" sz="1915">
                <a:solidFill>
                  <a:srgbClr val="000000"/>
                </a:solidFill>
                <a:latin typeface="Open Sans"/>
              </a:rPr>
              <a:t>Importancia de la </a:t>
            </a:r>
            <a:r>
              <a:rPr lang="en-US" sz="1915">
                <a:solidFill>
                  <a:srgbClr val="000000"/>
                </a:solidFill>
                <a:latin typeface="Open Sans"/>
              </a:rPr>
              <a:t>planificación y documentación.</a:t>
            </a:r>
          </a:p>
          <a:p>
            <a:pPr algn="just" marL="827181" indent="-275727" lvl="2">
              <a:lnSpc>
                <a:spcPts val="2681"/>
              </a:lnSpc>
              <a:buFont typeface="Arial"/>
              <a:buChar char="⚬"/>
            </a:pPr>
            <a:r>
              <a:rPr lang="en-US" sz="1915">
                <a:solidFill>
                  <a:srgbClr val="000000"/>
                </a:solidFill>
                <a:latin typeface="Open Sans"/>
              </a:rPr>
              <a:t>Adaptabilidad y </a:t>
            </a:r>
            <a:r>
              <a:rPr lang="en-US" sz="1915">
                <a:solidFill>
                  <a:srgbClr val="000000"/>
                </a:solidFill>
                <a:latin typeface="Open Sans"/>
              </a:rPr>
              <a:t>resolución de problemas técnicos.</a:t>
            </a:r>
          </a:p>
          <a:p>
            <a:pPr algn="just">
              <a:lnSpc>
                <a:spcPts val="2681"/>
              </a:lnSpc>
            </a:pPr>
          </a:p>
          <a:p>
            <a:pPr algn="just" marL="413590" indent="-206795" lvl="1">
              <a:lnSpc>
                <a:spcPts val="2681"/>
              </a:lnSpc>
              <a:buFont typeface="Arial"/>
              <a:buChar char="•"/>
            </a:pPr>
            <a:r>
              <a:rPr lang="en-US" sz="1915">
                <a:solidFill>
                  <a:srgbClr val="000000"/>
                </a:solidFill>
                <a:latin typeface="Open Sans"/>
              </a:rPr>
              <a:t>Impacto y Futuras Mejoras</a:t>
            </a:r>
            <a:r>
              <a:rPr lang="en-US" sz="1915">
                <a:solidFill>
                  <a:srgbClr val="000000"/>
                </a:solidFill>
                <a:latin typeface="Open Sans"/>
              </a:rPr>
              <a:t>:</a:t>
            </a:r>
          </a:p>
          <a:p>
            <a:pPr algn="just" marL="827181" indent="-275727" lvl="2">
              <a:lnSpc>
                <a:spcPts val="2681"/>
              </a:lnSpc>
              <a:buFont typeface="Arial"/>
              <a:buChar char="⚬"/>
            </a:pPr>
            <a:r>
              <a:rPr lang="en-US" sz="1915">
                <a:solidFill>
                  <a:srgbClr val="000000"/>
                </a:solidFill>
                <a:latin typeface="Open Sans"/>
              </a:rPr>
              <a:t>Plataforma intuitiva y eficiente.</a:t>
            </a:r>
          </a:p>
          <a:p>
            <a:pPr algn="just" marL="827181" indent="-275727" lvl="2">
              <a:lnSpc>
                <a:spcPts val="2681"/>
              </a:lnSpc>
              <a:buFont typeface="Arial"/>
              <a:buChar char="⚬"/>
            </a:pPr>
            <a:r>
              <a:rPr lang="en-US" sz="1915">
                <a:solidFill>
                  <a:srgbClr val="000000"/>
                </a:solidFill>
                <a:latin typeface="Open Sans"/>
              </a:rPr>
              <a:t>A</a:t>
            </a:r>
            <a:r>
              <a:rPr lang="en-US" sz="1915">
                <a:solidFill>
                  <a:srgbClr val="000000"/>
                </a:solidFill>
                <a:latin typeface="Open Sans"/>
              </a:rPr>
              <a:t>rquitectura modular para futuras expansiones y nuevas funcionalidades.</a:t>
            </a:r>
          </a:p>
          <a:p>
            <a:pPr algn="just">
              <a:lnSpc>
                <a:spcPts val="2681"/>
              </a:lnSpc>
            </a:pPr>
          </a:p>
          <a:p>
            <a:pPr algn="just">
              <a:lnSpc>
                <a:spcPts val="2681"/>
              </a:lnSpc>
            </a:pPr>
            <a:r>
              <a:rPr lang="en-US" sz="1915">
                <a:solidFill>
                  <a:srgbClr val="000000"/>
                </a:solidFill>
                <a:latin typeface="Open Sans"/>
              </a:rPr>
              <a:t>GymTracker ha logrado cumplir con los objetivos establecidos, ofreciendo una herramienta valiosa tanto para usuarios individuales como para administradores de gimnasios. El proyecto ha proporcionado un amplio aprendizaje en tecnologías web y ha sentado una base sólida para futuros desarrollos y mejoras.</a:t>
            </a:r>
          </a:p>
          <a:p>
            <a:pPr algn="just">
              <a:lnSpc>
                <a:spcPts val="2681"/>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DAGHVzR-t4o</dc:identifier>
  <dcterms:modified xsi:type="dcterms:W3CDTF">2011-08-01T06:04:30Z</dcterms:modified>
  <cp:revision>1</cp:revision>
  <dc:title>GymTracker</dc:title>
</cp:coreProperties>
</file>